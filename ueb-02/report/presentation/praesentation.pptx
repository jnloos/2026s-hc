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8288000" cy="10287000"/>
  <p:notesSz cx="10287000" cy="18288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de-DE" sz="1800" b="0" u="none" strike="noStrike">
                <a:solidFill>
                  <a:schemeClr val="dk1"/>
                </a:solidFill>
                <a:effectLst/>
                <a:uFillTx/>
                <a:latin typeface="Calibri"/>
              </a:rPr>
              <a:t>Click to move the slide</a:t>
            </a:r>
            <a:endParaRPr lang="de-DE"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de-DE" sz="2000" b="0" u="none" strike="noStrike">
                <a:solidFill>
                  <a:srgbClr val="000000"/>
                </a:solidFill>
                <a:effectLst/>
                <a:uFillTx/>
                <a:latin typeface="Arial"/>
              </a:rPr>
              <a:t>Click to edit the notes format</a:t>
            </a:r>
            <a:endParaRPr lang="de-DE"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de-DE" sz="1400" b="0" u="none" strike="noStrike">
                <a:solidFill>
                  <a:srgbClr val="000000"/>
                </a:solidFill>
                <a:effectLst/>
                <a:uFillTx/>
                <a:latin typeface="Times New Roman"/>
              </a:rPr>
              <a:t> </a:t>
            </a:r>
            <a:endParaRPr lang="de-DE"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de-DE" sz="1400" b="0" u="none" strike="noStrike">
                <a:solidFill>
                  <a:srgbClr val="000000"/>
                </a:solidFill>
                <a:effectLst/>
                <a:uFillTx/>
                <a:latin typeface="Times New Roman"/>
              </a:defRPr>
            </a:lvl1pPr>
          </a:lstStyle>
          <a:p>
            <a:pPr indent="0" algn="r">
              <a:buNone/>
            </a:pPr>
            <a:r>
              <a:rPr lang="de-DE" sz="1400" b="0" u="none" strike="noStrike">
                <a:solidFill>
                  <a:srgbClr val="000000"/>
                </a:solidFill>
                <a:effectLst/>
                <a:uFillTx/>
                <a:latin typeface="Times New Roman"/>
              </a:rPr>
              <a:t> </a:t>
            </a:r>
            <a:endParaRPr lang="de-DE"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 </a:t>
            </a:r>
            <a:endParaRPr lang="de-DE"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de-DE" sz="1400" b="0" u="none" strike="noStrike">
                <a:solidFill>
                  <a:srgbClr val="000000"/>
                </a:solidFill>
                <a:effectLst/>
                <a:uFillTx/>
                <a:latin typeface="Times New Roman"/>
              </a:defRPr>
            </a:lvl1pPr>
          </a:lstStyle>
          <a:p>
            <a:pPr indent="0" algn="r">
              <a:buNone/>
            </a:pPr>
            <a:fld id="{A7878B04-F46A-4F74-9288-47F52D07880A}" type="slidenum">
              <a:rPr lang="de-DE" sz="1400" b="0" u="none" strike="noStrike">
                <a:solidFill>
                  <a:srgbClr val="000000"/>
                </a:solidFill>
                <a:effectLst/>
                <a:uFillTx/>
                <a:latin typeface="Times New Roman"/>
              </a:rPr>
              <a:t>1</a:t>
            </a:fld>
            <a:endParaRPr lang="de-DE"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sldImg"/>
          </p:nvPr>
        </p:nvSpPr>
        <p:spPr>
          <a:xfrm>
            <a:off x="685800" y="1143000"/>
            <a:ext cx="5486040" cy="3085920"/>
          </a:xfrm>
          <a:prstGeom prst="rect">
            <a:avLst/>
          </a:prstGeom>
          <a:ln w="0">
            <a:noFill/>
          </a:ln>
        </p:spPr>
      </p:sp>
      <p:sp>
        <p:nvSpPr>
          <p:cNvPr id="1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Kurz begrüßen. Erzählbogen: Ich habe eine kleine Benchmark-Suite gebaut. Der Aufwand lag nicht im Messen, sondern darin, die Vergleiche so zu konstruieren, dass sie tatsächlich vergleichbar sind. Beide Aufgaben zeigen dieselbe Konsequenz aus zwei Richtungen: Die GPU erreicht hohen Durchsatz nur bei einheitlichem Kontrollfluss im Warp und bei regelmäßigem Datenlayout. Dauer 12 bis 15 Minuten, keine Live-Demo.</a:t>
            </a:r>
            <a:endParaRPr lang="de-DE" sz="2000" b="0" u="none" strike="noStrike">
              <a:solidFill>
                <a:srgbClr val="000000"/>
              </a:solidFill>
              <a:effectLst/>
              <a:uFillTx/>
              <a:latin typeface="Arial"/>
            </a:endParaRPr>
          </a:p>
        </p:txBody>
      </p:sp>
      <p:sp>
        <p:nvSpPr>
          <p:cNvPr id="175"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C07FF39-3BE2-4D98-AD8D-F8A34A8A228D}" type="slidenum">
              <a:rPr lang="en-US" sz="1200" b="0" u="none" strike="noStrike">
                <a:solidFill>
                  <a:schemeClr val="dk1"/>
                </a:solidFill>
                <a:effectLst/>
                <a:uFillTx/>
                <a:latin typeface="+mn-lt"/>
                <a:ea typeface="+mn-ea"/>
              </a:rPr>
              <a:t>&lt;number&gt;</a:t>
            </a:fld>
            <a:endParaRPr lang="de-DE"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685800" y="1143000"/>
            <a:ext cx="5486040" cy="3085920"/>
          </a:xfrm>
          <a:prstGeom prst="rect">
            <a:avLst/>
          </a:prstGeom>
          <a:ln w="0">
            <a:noFill/>
          </a:ln>
        </p:spPr>
      </p:sp>
      <p:sp>
        <p:nvSpPr>
          <p:cNvPr id="1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Beide Aufgaben laufen durch dieselbe Infrastruktur, das ist der Grund für den Aufwand. Drei Entscheidungen sind wesentlich. Erstens messe ich über Profiling-Events statt mit einer Uhr um den Python-Aufruf, sonst gingen Host-Overhead und Queue-Latenz in die Zahl ein. Zweitens der Median statt des Mittelwerts, damit Ausreißer durch Scheduling nicht durchschlagen. Drittens frage ich die Warp-Breite beim Gerät ab, statt 32 anzunehmen; auf der Radeon 890M sind es 64, und genau an dieser Zahl hängt später der Knick in der Occupancy-Kurve. Testgerät ist ein AMD Ryzen AI 9 HX PRO 370 mit Radeon 890M und 16 Compute Units. Hier einmal erwähnen, dass ich durchgehend die NVIDIA-Nomenklatur der Vorlesung verwende, also Warp statt Wavefront.</a:t>
            </a:r>
            <a:endParaRPr lang="de-DE" sz="2000" b="0" u="none" strike="noStrike">
              <a:solidFill>
                <a:srgbClr val="000000"/>
              </a:solidFill>
              <a:effectLst/>
              <a:uFillTx/>
              <a:latin typeface="Arial"/>
            </a:endParaRPr>
          </a:p>
        </p:txBody>
      </p:sp>
      <p:sp>
        <p:nvSpPr>
          <p:cNvPr id="178"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9F80C23-245B-4BE7-B4C4-E3950FD1A763}" type="slidenum">
              <a:rPr lang="en-US" sz="1200" b="0" u="none" strike="noStrike">
                <a:solidFill>
                  <a:schemeClr val="dk1"/>
                </a:solidFill>
                <a:effectLst/>
                <a:uFillTx/>
                <a:latin typeface="+mn-lt"/>
                <a:ea typeface="+mn-ea"/>
              </a:rPr>
              <a:t>&lt;number&gt;</a:t>
            </a:fld>
            <a:endParaRPr lang="de-DE"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sldImg"/>
          </p:nvPr>
        </p:nvSpPr>
        <p:spPr>
          <a:xfrm>
            <a:off x="685800" y="1143000"/>
            <a:ext cx="5486040" cy="3085920"/>
          </a:xfrm>
          <a:prstGeom prst="rect">
            <a:avLst/>
          </a:prstGeom>
          <a:ln w="0">
            <a:noFill/>
          </a:ln>
        </p:spPr>
      </p:sp>
      <p:sp>
        <p:nvSpPr>
          <p:cNvPr id="1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Hier die Zweiteilung ankündigen, damit das Publikum die beiden folgenden Ergebnisfolien einordnen kann. Schritt 1 ist die Vorbedingung, Schritt 2 der eigentliche Gegenstand. Die Schwierigkeit bei Schritt 2 liegt darin, dass ein naiver Aufbau nichts zeigt: Wenn mehr Pfade auch mehr Arbeit bedeuten, misst man nur, dass mehr Arbeit länger dauert. Der Kernel muss also so gebaut sein, dass die Arbeit je Work-Item konstant bleibt und sich ausschließlich die Divergenz ändert.</a:t>
            </a:r>
            <a:endParaRPr lang="de-DE" sz="2000" b="0" u="none" strike="noStrike">
              <a:solidFill>
                <a:srgbClr val="000000"/>
              </a:solidFill>
              <a:effectLst/>
              <a:uFillTx/>
              <a:latin typeface="Arial"/>
            </a:endParaRPr>
          </a:p>
        </p:txBody>
      </p:sp>
      <p:sp>
        <p:nvSpPr>
          <p:cNvPr id="181"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A2B943-3017-4FA3-B1AD-EF3DE25A4D03}" type="slidenum">
              <a:rPr lang="en-US" sz="1200" b="0" u="none" strike="noStrike">
                <a:solidFill>
                  <a:schemeClr val="dk1"/>
                </a:solidFill>
                <a:effectLst/>
                <a:uFillTx/>
                <a:latin typeface="+mn-lt"/>
                <a:ea typeface="+mn-ea"/>
              </a:rPr>
              <a:t>&lt;number&gt;</a:t>
            </a:fld>
            <a:endParaRPr lang="de-DE"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ldImg"/>
          </p:nvPr>
        </p:nvSpPr>
        <p:spPr>
          <a:xfrm>
            <a:off x="685800" y="1143000"/>
            <a:ext cx="5486040" cy="3085920"/>
          </a:xfrm>
          <a:prstGeom prst="rect">
            <a:avLst/>
          </a:prstGeom>
          <a:ln w="0">
            <a:noFill/>
          </a:ln>
        </p:spPr>
      </p:sp>
      <p:sp>
        <p:nvSpPr>
          <p:cNvPr id="1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Kurz zeigen, was work() tut: eine feste Zahl von FMA-Schritten, zwei FLOPs je Schritt. KITERS, COEF und BIAS sind Konstanten, die zur Build-Zeit feststehen. Damit ist die geleistete Arbeit je Aufruf konstant und unabhängig von allem anderen. Auf diese feste FLOP-Zahl baut die Divergenzmessung auf der nächsten Folie auf.</a:t>
            </a:r>
            <a:endParaRPr lang="de-DE" sz="2000" b="0" u="none" strike="noStrike">
              <a:solidFill>
                <a:srgbClr val="000000"/>
              </a:solidFill>
              <a:effectLst/>
              <a:uFillTx/>
              <a:latin typeface="Arial"/>
            </a:endParaRPr>
          </a:p>
        </p:txBody>
      </p:sp>
      <p:sp>
        <p:nvSpPr>
          <p:cNvPr id="184"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EAC138B-479F-46F6-9AF2-C5177AEFD63A}" type="slidenum">
              <a:rPr lang="en-US" sz="1200" b="0" u="none" strike="noStrike">
                <a:solidFill>
                  <a:schemeClr val="dk1"/>
                </a:solidFill>
                <a:effectLst/>
                <a:uFillTx/>
                <a:latin typeface="+mn-lt"/>
                <a:ea typeface="+mn-ea"/>
              </a:rPr>
              <a:t>&lt;number&gt;</a:t>
            </a:fld>
            <a:endParaRPr lang="de-DE"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sldImg"/>
          </p:nvPr>
        </p:nvSpPr>
        <p:spPr>
          <a:xfrm>
            <a:off x="685800" y="1143000"/>
            <a:ext cx="5486040" cy="3085920"/>
          </a:xfrm>
          <a:prstGeom prst="rect">
            <a:avLst/>
          </a:prstGeom>
          <a:ln w="0">
            <a:noFill/>
          </a:ln>
        </p:spPr>
      </p:sp>
      <p:sp>
        <p:nvSpPr>
          <p:cNvPr id="1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Bei kleinem n sind zu wenige Threads vorhanden, um die Compute Units zu füllen, und die Startkosten des Kernel-Launch dominieren. Der Anstieg über zwei Größenordnungen bedeutet nicht, dass die GPU schneller rechnet, sondern nur, dass sie ausgelastet ist. Diese Folie zügig abhandeln, sie ist die Vorbedingung und nicht der Befund. Am Ende den Übergang explizit machen: Aus dieser Kurve wähle ich ein n im gesättigten Bereich und halte es für Schritt 2 fest.</a:t>
            </a:r>
            <a:endParaRPr lang="de-DE" sz="2000" b="0" u="none" strike="noStrike">
              <a:solidFill>
                <a:srgbClr val="000000"/>
              </a:solidFill>
              <a:effectLst/>
              <a:uFillTx/>
              <a:latin typeface="Arial"/>
            </a:endParaRPr>
          </a:p>
        </p:txBody>
      </p:sp>
      <p:sp>
        <p:nvSpPr>
          <p:cNvPr id="187"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128EF0-F354-4C78-B74F-2CADE77DD76D}" type="slidenum">
              <a:rPr lang="en-US" sz="1200" b="0" u="none" strike="noStrike">
                <a:solidFill>
                  <a:schemeClr val="dk1"/>
                </a:solidFill>
                <a:effectLst/>
                <a:uFillTx/>
                <a:latin typeface="+mn-lt"/>
                <a:ea typeface="+mn-ea"/>
              </a:rPr>
              <a:t>&lt;number&gt;</a:t>
            </a:fld>
            <a:endParaRPr lang="de-DE"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685800" y="1143000"/>
            <a:ext cx="5486040" cy="3085920"/>
          </a:xfrm>
          <a:prstGeom prst="rect">
            <a:avLst/>
          </a:prstGeom>
          <a:ln w="0">
            <a:noFill/>
          </a:ln>
        </p:spPr>
      </p:sp>
      <p:sp>
        <p:nvSpPr>
          <p:cNvPr id="1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Das ist der Kern der Aufgabe. Ich schleife über DEGREE Zweige, von denen je Work-Item genau einer zutrifft. Die geleistete Arbeit bleibt damit konstant, es ändert sich nur, auf wie viele Pfade sich die Lanes eines Warps verteilen. Der gemessene Einbruch ist deshalb reiner Serialisierungsverlust und nicht Mehrarbeit. DEGREE kommt als Präprozessor-Makro zur Build-Zeit hinein, der Kernel wird je Divergenzgrad neu übersetzt und enthält keine zusätzliche Laufzeitlogik.</a:t>
            </a:r>
            <a:endParaRPr lang="de-DE" sz="2000" b="0" u="none" strike="noStrike">
              <a:solidFill>
                <a:srgbClr val="000000"/>
              </a:solidFill>
              <a:effectLst/>
              <a:uFillTx/>
              <a:latin typeface="Arial"/>
            </a:endParaRPr>
          </a:p>
        </p:txBody>
      </p:sp>
      <p:sp>
        <p:nvSpPr>
          <p:cNvPr id="190"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7393CA5-6AE5-44E4-BE61-EF88A43F0BC7}" type="slidenum">
              <a:rPr lang="en-US" sz="1200" b="0" u="none" strike="noStrike">
                <a:solidFill>
                  <a:schemeClr val="dk1"/>
                </a:solidFill>
                <a:effectLst/>
                <a:uFillTx/>
                <a:latin typeface="+mn-lt"/>
                <a:ea typeface="+mn-ea"/>
              </a:rPr>
              <a:t>&lt;number&gt;</a:t>
            </a:fld>
            <a:endParaRPr lang="de-DE"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685800" y="1143000"/>
            <a:ext cx="5486040" cy="3085920"/>
          </a:xfrm>
          <a:prstGeom prst="rect">
            <a:avLst/>
          </a:prstGeom>
          <a:ln w="0">
            <a:noFill/>
          </a:ln>
        </p:spPr>
      </p:sp>
      <p:sp>
        <p:nvSpPr>
          <p:cNvPr id="1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Erster Kernbefund, hier Zeit lassen. Zuerst darauf hinweisen, dass n jetzt festgehalten ist und im gesättigten Bereich liegt. Ohne diese Bedingung wäre der Divergenzeffekt vom Auslastungseffekt überlagert und die Kurve nicht interpretierbar. Dann der eigentliche Punkt: Es wird über alle Divergenzgrade exakt gleich viel gerechnet, und trotzdem dauert es 56 mal länger. Der Sweep endet bei 64, weil das die Warp-Breite ist und damit der Punkt, an dem jede Lane einen eigenen Pfad nimmt. Mehr Divergenz ist innerhalb eines Warps nicht möglich.</a:t>
            </a:r>
            <a:endParaRPr lang="de-DE" sz="2000" b="0" u="none" strike="noStrike">
              <a:solidFill>
                <a:srgbClr val="000000"/>
              </a:solidFill>
              <a:effectLst/>
              <a:uFillTx/>
              <a:latin typeface="Arial"/>
            </a:endParaRPr>
          </a:p>
        </p:txBody>
      </p:sp>
      <p:sp>
        <p:nvSpPr>
          <p:cNvPr id="193"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7D96592-5792-431C-90CE-14147D6DDDBB}" type="slidenum">
              <a:rPr lang="en-US" sz="1200" b="0" u="none" strike="noStrike">
                <a:solidFill>
                  <a:schemeClr val="dk1"/>
                </a:solidFill>
                <a:effectLst/>
                <a:uFillTx/>
                <a:latin typeface="+mn-lt"/>
                <a:ea typeface="+mn-ea"/>
              </a:rPr>
              <a:t>&lt;number&gt;</a:t>
            </a:fld>
            <a:endParaRPr lang="de-DE"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685800" y="1143000"/>
            <a:ext cx="5486040" cy="3085920"/>
          </a:xfrm>
          <a:prstGeom prst="rect">
            <a:avLst/>
          </a:prstGeom>
          <a:ln w="0">
            <a:noFill/>
          </a:ln>
        </p:spPr>
      </p:sp>
      <p:sp>
        <p:nvSpPr>
          <p:cNvPr id="1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Dieselbe Zweiteilung wie bei Aufgabe 1 ankündigen, das ist der Wiedererkennungspunkt. Auch hier liegt die Schwierigkeit in der Fairness: Drei Zugriffsmuster in drei getrennten Kerneln zu messen wäre angreifbar, weil der Compiler jede Variante anders optimieren kann und die bewegten Datenmengen auseinanderlaufen. Schritt 2 zielt auf das Latency-Hiding, also darauf, dass die GPU Wartezeit nicht über Caches überbrückt, sondern über den Wechsel zwischen Warps.</a:t>
            </a:r>
            <a:endParaRPr lang="de-DE" sz="2000" b="0" u="none" strike="noStrike">
              <a:solidFill>
                <a:srgbClr val="000000"/>
              </a:solidFill>
              <a:effectLst/>
              <a:uFillTx/>
              <a:latin typeface="Arial"/>
            </a:endParaRPr>
          </a:p>
        </p:txBody>
      </p:sp>
      <p:sp>
        <p:nvSpPr>
          <p:cNvPr id="196"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BF2271B-4BA5-4ACD-B7F7-CC3CBB7C442F}" type="slidenum">
              <a:rPr lang="en-US" sz="1200" b="0" u="none" strike="noStrike">
                <a:solidFill>
                  <a:schemeClr val="dk1"/>
                </a:solidFill>
                <a:effectLst/>
                <a:uFillTx/>
                <a:latin typeface="+mn-lt"/>
                <a:ea typeface="+mn-ea"/>
              </a:rPr>
              <a:t>&lt;number&gt;</a:t>
            </a:fld>
            <a:endParaRPr lang="de-DE"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685800" y="1143000"/>
            <a:ext cx="5486040" cy="3085920"/>
          </a:xfrm>
          <a:prstGeom prst="rect">
            <a:avLst/>
          </a:prstGeom>
          <a:ln w="0">
            <a:noFill/>
          </a:ln>
        </p:spPr>
      </p:sp>
      <p:sp>
        <p:nvSpPr>
          <p:cNvPr id="1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Das Zugriffsmuster wird über das Indexfeld hineingereicht, alle drei Varianten laufen durch identischen Code. Das Indexfeld wird auch für coalesced angelegt, wo es die Identität ist. Das kostet dort Bandbreite, die man sparen könnte, aber nur so ist die bewegte Byte-Menge in allen drei Fällen gleich. Die Schrittweite 521 ist prim und damit teilerfremd zu n. Das ist notwendig, weil i mal stride modulo n sonst keine Bijektion ist und der Zugriff gar nicht das ganze Feld abtastet. Der Code prüft das und bricht sonst ab.</a:t>
            </a:r>
            <a:endParaRPr lang="de-DE" sz="2000" b="0" u="none" strike="noStrike">
              <a:solidFill>
                <a:srgbClr val="000000"/>
              </a:solidFill>
              <a:effectLst/>
              <a:uFillTx/>
              <a:latin typeface="Arial"/>
            </a:endParaRPr>
          </a:p>
        </p:txBody>
      </p:sp>
      <p:sp>
        <p:nvSpPr>
          <p:cNvPr id="199"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5B94A25-A423-472D-8CCA-056A5D671C43}" type="slidenum">
              <a:rPr lang="en-US" sz="1200" b="0" u="none" strike="noStrike">
                <a:solidFill>
                  <a:schemeClr val="dk1"/>
                </a:solidFill>
                <a:effectLst/>
                <a:uFillTx/>
                <a:latin typeface="+mn-lt"/>
                <a:ea typeface="+mn-ea"/>
              </a:rPr>
              <a:t>&lt;number&gt;</a:t>
            </a:fld>
            <a:endParaRPr lang="de-DE"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685800" y="1143000"/>
            <a:ext cx="5486040" cy="3085920"/>
          </a:xfrm>
          <a:prstGeom prst="rect">
            <a:avLst/>
          </a:prstGeom>
          <a:ln w="0">
            <a:noFill/>
          </a:ln>
        </p:spPr>
      </p:sp>
      <p:sp>
        <p:nvSpPr>
          <p:cNvPr id="2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Die letzte Zeile ist der eigentliche Punkt und sollte betont werden. Der Unterschied kommt allein aus der Anordnung der Adressen, nicht aus der Datenmenge. Am Ende den Übergang explizit machen: coalesced ist das tragfähige Muster, deshalb halte ich es für Schritt 2 fest und variiere stattdessen die Parallelität.</a:t>
            </a:r>
            <a:endParaRPr lang="de-DE" sz="2000" b="0" u="none" strike="noStrike">
              <a:solidFill>
                <a:srgbClr val="000000"/>
              </a:solidFill>
              <a:effectLst/>
              <a:uFillTx/>
              <a:latin typeface="Arial"/>
            </a:endParaRPr>
          </a:p>
        </p:txBody>
      </p:sp>
      <p:sp>
        <p:nvSpPr>
          <p:cNvPr id="202"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FC14CDE-F6D4-4695-A347-1EB7C4A65997}" type="slidenum">
              <a:rPr lang="en-US" sz="1200" b="0" u="none" strike="noStrike">
                <a:solidFill>
                  <a:schemeClr val="dk1"/>
                </a:solidFill>
                <a:effectLst/>
                <a:uFillTx/>
                <a:latin typeface="+mn-lt"/>
                <a:ea typeface="+mn-ea"/>
              </a:rPr>
              <a:t>&lt;number&gt;</a:t>
            </a:fld>
            <a:endParaRPr lang="de-DE"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sldImg"/>
          </p:nvPr>
        </p:nvSpPr>
        <p:spPr>
          <a:xfrm>
            <a:off x="685800" y="1143000"/>
            <a:ext cx="5486040" cy="3085920"/>
          </a:xfrm>
          <a:prstGeom prst="rect">
            <a:avLst/>
          </a:prstGeom>
          <a:ln w="0">
            <a:noFill/>
          </a:ln>
        </p:spPr>
      </p:sp>
      <p:sp>
        <p:nvSpPr>
          <p:cNvPr id="2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Zuerst darauf hinweisen, dass hier nur noch coalesced gemessen wird. Auf einem der schlechten Muster liefe die Kurve gegen dessen eigene Bandbreitengrenze und würde über Occupancy nichts aussagen. Dann auf den Knick zeigen: Er liegt exakt bei 64 und bestätigt nebenbei die vom Gerät abgefragte Warp-Breite.</a:t>
            </a:r>
            <a:endParaRPr lang="de-DE" sz="2000" b="0" u="none" strike="noStrike">
              <a:solidFill>
                <a:srgbClr val="000000"/>
              </a:solidFill>
              <a:effectLst/>
              <a:uFillTx/>
              <a:latin typeface="Arial"/>
            </a:endParaRPr>
          </a:p>
        </p:txBody>
      </p:sp>
      <p:sp>
        <p:nvSpPr>
          <p:cNvPr id="205"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469BB8F-4117-4BF3-9ECA-EF032D1CE40D}" type="slidenum">
              <a:rPr lang="en-US" sz="1200" b="0" u="none" strike="noStrike">
                <a:solidFill>
                  <a:schemeClr val="dk1"/>
                </a:solidFill>
                <a:effectLst/>
                <a:uFillTx/>
                <a:latin typeface="+mn-lt"/>
                <a:ea typeface="+mn-ea"/>
              </a:rPr>
              <a:t>&lt;number&gt;</a:t>
            </a:fld>
            <a:endParaRPr lang="de-DE"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ldImg"/>
          </p:nvPr>
        </p:nvSpPr>
        <p:spPr>
          <a:xfrm>
            <a:off x="685800" y="1143000"/>
            <a:ext cx="5486040" cy="3085920"/>
          </a:xfrm>
          <a:prstGeom prst="rect">
            <a:avLst/>
          </a:prstGeom>
          <a:ln w="0">
            <a:noFill/>
          </a:ln>
        </p:spPr>
      </p:sp>
      <p:sp>
        <p:nvSpPr>
          <p:cNvPr id="2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Beide Aufgaben zeigen dieselbe Ursache aus zwei Richtungen. Einmal bricht der Kontrollfluss auseinander, einmal das Datenlayout, und beide Male liegt die Strafe über einer Größenordnung. Die zweite Tabellenzeile trägt die Deutung: derselbe Divergenzgrad kostet die CPU nur Faktor 2,6 statt 56,1, weil es dort keine Lockstep-Serialisierung gibt. Wo die CPU über Sprungvorhersage und Caches einzelne Unregelmäßigkeiten abfängt, bezieht die GPU ihren Durchsatz ausschließlich aus Gleichförmigkeit. Der Vergleich ist belastbar, weil NumPy seine Array-Operationen hardware-optimiert in C ausführt, es steht hier nicht Python gegen GPU. Schlusssatz: Die GPU ist keine schnellere CPU, sondern eine Maschine mit anderen Vorbedingungen.</a:t>
            </a:r>
            <a:endParaRPr lang="de-DE" sz="2000" b="0" u="none" strike="noStrike">
              <a:solidFill>
                <a:srgbClr val="000000"/>
              </a:solidFill>
              <a:effectLst/>
              <a:uFillTx/>
              <a:latin typeface="Arial"/>
            </a:endParaRPr>
          </a:p>
        </p:txBody>
      </p:sp>
      <p:sp>
        <p:nvSpPr>
          <p:cNvPr id="208"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86E75EA-3E90-4BB7-AAC2-987806EA195D}" type="slidenum">
              <a:rPr lang="en-US" sz="1200" b="0" u="none" strike="noStrike">
                <a:solidFill>
                  <a:schemeClr val="dk1"/>
                </a:solidFill>
                <a:effectLst/>
                <a:uFillTx/>
                <a:latin typeface="+mn-lt"/>
                <a:ea typeface="+mn-ea"/>
              </a:rPr>
              <a:t>&lt;number&gt;</a:t>
            </a:fld>
            <a:endParaRPr lang="de-DE"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lvl1pPr indent="0" algn="l">
              <a:buNone/>
              <a:defRPr lang="de-DE" sz="1800" b="0" u="none" strike="noStrike">
                <a:solidFill>
                  <a:schemeClr val="dk1"/>
                </a:solidFill>
                <a:effectLst/>
                <a:uFillTx/>
                <a:latin typeface="Calibri"/>
              </a:defRPr>
            </a:lvl1pPr>
          </a:lstStyle>
          <a:p>
            <a:pPr indent="0" algn="l">
              <a:buNone/>
            </a:pPr>
            <a:r>
              <a:rPr lang="de-DE" sz="1800" b="0" u="none" strike="noStrike">
                <a:solidFill>
                  <a:schemeClr val="dk1"/>
                </a:solidFill>
                <a:effectLst/>
                <a:uFillTx/>
                <a:latin typeface="Calibri"/>
              </a:rPr>
              <a:t>Click to edit the title text format</a:t>
            </a:r>
            <a:endParaRPr lang="de-DE" sz="1800" b="0" u="none" strike="noStrike">
              <a:solidFill>
                <a:schemeClr val="dk1"/>
              </a:solidFill>
              <a:effectLst/>
              <a:uFillTx/>
              <a:latin typeface="Calibri"/>
            </a:endParaRPr>
          </a:p>
        </p:txBody>
      </p:sp>
      <p:sp>
        <p:nvSpPr>
          <p:cNvPr id="3" name="PlaceHolder 2"/>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de-DE"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de-DE"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de-DE"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de-DE"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de-DE" sz="3200" b="0" u="none" strike="noStrike">
                <a:solidFill>
                  <a:schemeClr val="dk1"/>
                </a:solidFill>
                <a:effectLst/>
                <a:uFillTx/>
                <a:latin typeface="Calibri"/>
              </a:rPr>
              <a:t>Click to edit the outline text format</a:t>
            </a:r>
            <a:endParaRPr lang="de-DE"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de-DE" sz="2400" b="0" u="none" strike="noStrike">
                <a:solidFill>
                  <a:schemeClr val="dk1"/>
                </a:solidFill>
                <a:effectLst/>
                <a:uFillTx/>
                <a:latin typeface="Calibri"/>
              </a:rPr>
              <a:t>Second Outline Level</a:t>
            </a:r>
            <a:endParaRPr lang="de-DE"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de-DE" sz="2000" b="0" u="none" strike="noStrike">
                <a:solidFill>
                  <a:schemeClr val="dk1"/>
                </a:solidFill>
                <a:effectLst/>
                <a:uFillTx/>
                <a:latin typeface="Calibri"/>
              </a:rPr>
              <a:t>Third Outline Level</a:t>
            </a:r>
            <a:endParaRPr lang="de-DE"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de-DE" sz="2000" b="0" u="none" strike="noStrike">
                <a:solidFill>
                  <a:schemeClr val="dk1"/>
                </a:solidFill>
                <a:effectLst/>
                <a:uFillTx/>
                <a:latin typeface="Calibri"/>
              </a:rPr>
              <a:t>Fourth Outline Level</a:t>
            </a:r>
            <a:endParaRPr lang="de-DE"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de-DE" sz="2000" b="0" u="none" strike="noStrike">
                <a:solidFill>
                  <a:schemeClr val="dk1"/>
                </a:solidFill>
                <a:effectLst/>
                <a:uFillTx/>
                <a:latin typeface="Calibri"/>
              </a:rPr>
              <a:t>Fifth Outline Level</a:t>
            </a:r>
            <a:endParaRPr lang="de-DE"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de-DE" sz="2000" b="0" u="none" strike="noStrike">
                <a:solidFill>
                  <a:schemeClr val="dk1"/>
                </a:solidFill>
                <a:effectLst/>
                <a:uFillTx/>
                <a:latin typeface="Calibri"/>
              </a:rPr>
              <a:t>Sixth Outline Level</a:t>
            </a:r>
            <a:endParaRPr lang="de-DE"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de-DE" sz="2000" b="0" u="none" strike="noStrike">
                <a:solidFill>
                  <a:schemeClr val="dk1"/>
                </a:solidFill>
                <a:effectLst/>
                <a:uFillTx/>
                <a:latin typeface="Calibri"/>
              </a:rPr>
              <a:t>Seventh Outline Level</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Shape 0"/>
          <p:cNvSpPr/>
          <p:nvPr/>
        </p:nvSpPr>
        <p:spPr>
          <a:xfrm>
            <a:off x="1238400" y="3174840"/>
            <a:ext cx="1142640" cy="56880"/>
          </a:xfrm>
          <a:prstGeom prst="rect">
            <a:avLst/>
          </a:prstGeom>
          <a:solidFill>
            <a:srgbClr val="2A4B9A"/>
          </a:solidFill>
          <a:ln w="0">
            <a:noFill/>
          </a:ln>
        </p:spPr>
        <p:style>
          <a:lnRef idx="0"/>
          <a:fillRef idx="0"/>
          <a:effectRef idx="0"/>
          <a:fontRef idx="minor"/>
        </p:style>
        <p:txBody>
          <a:bodyPr lIns="90000" tIns="12240" rIns="90000" bIns="12240" anchor="t">
            <a:noAutofit/>
          </a:bodyPr>
          <a:p>
            <a:endParaRPr lang="de-DE" sz="1800" b="0" u="none" strike="noStrike">
              <a:solidFill>
                <a:srgbClr val="FFFFFF"/>
              </a:solidFill>
              <a:effectLst/>
              <a:uFillTx/>
              <a:latin typeface="Arial"/>
            </a:endParaRPr>
          </a:p>
        </p:txBody>
      </p:sp>
      <p:sp>
        <p:nvSpPr>
          <p:cNvPr id="11" name="Text 1"/>
          <p:cNvSpPr/>
          <p:nvPr/>
        </p:nvSpPr>
        <p:spPr>
          <a:xfrm>
            <a:off x="1238400" y="3727080"/>
            <a:ext cx="17392320" cy="8776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0000"/>
              </a:lnSpc>
              <a:tabLst>
                <a:tab pos="0" algn="l"/>
              </a:tabLst>
            </a:pPr>
            <a:r>
              <a:rPr lang="en-US" sz="6300" b="1" u="none" spc="-125" strike="noStrike">
                <a:solidFill>
                  <a:srgbClr val="000000"/>
                </a:solidFill>
                <a:effectLst/>
                <a:uFillTx/>
                <a:latin typeface="Arial"/>
                <a:ea typeface="Arial"/>
              </a:rPr>
              <a:t>Ergebnisse Übung 2</a:t>
            </a:r>
            <a:endParaRPr lang="de-DE" sz="6300" b="0" u="none" strike="noStrike">
              <a:solidFill>
                <a:srgbClr val="000000"/>
              </a:solidFill>
              <a:effectLst/>
              <a:uFillTx/>
              <a:latin typeface="Arial"/>
            </a:endParaRPr>
          </a:p>
        </p:txBody>
      </p:sp>
      <p:sp>
        <p:nvSpPr>
          <p:cNvPr id="12" name="Text 2"/>
          <p:cNvSpPr/>
          <p:nvPr/>
        </p:nvSpPr>
        <p:spPr>
          <a:xfrm>
            <a:off x="1238400" y="4890960"/>
            <a:ext cx="14144400" cy="5443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23000"/>
              </a:lnSpc>
              <a:tabLst>
                <a:tab pos="0" algn="l"/>
              </a:tabLst>
            </a:pPr>
            <a:r>
              <a:rPr lang="en-US" sz="2850" b="0" u="none" strike="noStrike">
                <a:solidFill>
                  <a:srgbClr val="2A4B9A"/>
                </a:solidFill>
                <a:effectLst/>
                <a:uFillTx/>
                <a:latin typeface="Arial"/>
                <a:ea typeface="Arial"/>
              </a:rPr>
              <a:t>GPU-Benchmarks: SIMT-Ausführungsmodell und Speicherbandbreite</a:t>
            </a:r>
            <a:endParaRPr lang="de-DE" sz="2850" b="0" u="none" strike="noStrike">
              <a:solidFill>
                <a:srgbClr val="000000"/>
              </a:solidFill>
              <a:effectLst/>
              <a:uFillTx/>
              <a:latin typeface="Arial"/>
            </a:endParaRPr>
          </a:p>
        </p:txBody>
      </p:sp>
      <p:sp>
        <p:nvSpPr>
          <p:cNvPr id="13" name="Text 3"/>
          <p:cNvSpPr/>
          <p:nvPr/>
        </p:nvSpPr>
        <p:spPr>
          <a:xfrm>
            <a:off x="1238400" y="6312240"/>
            <a:ext cx="17392320" cy="4377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1000"/>
              </a:lnSpc>
              <a:tabLst>
                <a:tab pos="0" algn="l"/>
              </a:tabLst>
            </a:pPr>
            <a:r>
              <a:rPr lang="en-US" sz="2100" b="1" u="none" strike="noStrike">
                <a:solidFill>
                  <a:srgbClr val="000000"/>
                </a:solidFill>
                <a:effectLst/>
                <a:uFillTx/>
                <a:latin typeface="Arial"/>
                <a:ea typeface="Arial"/>
              </a:rPr>
              <a:t>Jan-Niclas Loosen</a:t>
            </a:r>
            <a:endParaRPr lang="de-DE" sz="2100" b="0" u="none" strike="noStrike">
              <a:solidFill>
                <a:srgbClr val="000000"/>
              </a:solidFill>
              <a:effectLst/>
              <a:uFillTx/>
              <a:latin typeface="Arial"/>
            </a:endParaRPr>
          </a:p>
        </p:txBody>
      </p:sp>
      <p:sp>
        <p:nvSpPr>
          <p:cNvPr id="14" name="Text 4"/>
          <p:cNvSpPr/>
          <p:nvPr/>
        </p:nvSpPr>
        <p:spPr>
          <a:xfrm>
            <a:off x="1238400" y="6712200"/>
            <a:ext cx="17392320" cy="4377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1000"/>
              </a:lnSpc>
              <a:tabLst>
                <a:tab pos="0" algn="l"/>
              </a:tabLst>
            </a:pPr>
            <a:r>
              <a:rPr lang="en-US" sz="2100" b="0" u="none" strike="noStrike">
                <a:solidFill>
                  <a:srgbClr val="6B7280"/>
                </a:solidFill>
                <a:effectLst/>
                <a:uFillTx/>
                <a:latin typeface="Arial"/>
                <a:ea typeface="Arial"/>
              </a:rPr>
              <a:t>Universität Trier</a:t>
            </a:r>
            <a:endParaRPr lang="de-DE"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Text 0"/>
          <p:cNvSpPr/>
          <p:nvPr/>
        </p:nvSpPr>
        <p:spPr>
          <a:xfrm>
            <a:off x="1238400" y="914400"/>
            <a:ext cx="16763760" cy="5590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3600" b="1" u="none" spc="-37" strike="noStrike">
                <a:solidFill>
                  <a:srgbClr val="000000"/>
                </a:solidFill>
                <a:effectLst/>
                <a:uFillTx/>
                <a:latin typeface="Arial"/>
                <a:ea typeface="Arial"/>
              </a:rPr>
              <a:t>Benchmark Suite</a:t>
            </a:r>
            <a:endParaRPr lang="de-DE" sz="3600" b="0" u="none" strike="noStrike">
              <a:solidFill>
                <a:srgbClr val="000000"/>
              </a:solidFill>
              <a:effectLst/>
              <a:uFillTx/>
              <a:latin typeface="Arial"/>
            </a:endParaRPr>
          </a:p>
        </p:txBody>
      </p:sp>
      <p:sp>
        <p:nvSpPr>
          <p:cNvPr id="16" name="Shape 1"/>
          <p:cNvSpPr/>
          <p:nvPr/>
        </p:nvSpPr>
        <p:spPr>
          <a:xfrm>
            <a:off x="1238400" y="1626120"/>
            <a:ext cx="1581120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17" name="Text 2"/>
          <p:cNvSpPr/>
          <p:nvPr/>
        </p:nvSpPr>
        <p:spPr>
          <a:xfrm>
            <a:off x="1329840" y="2140560"/>
            <a:ext cx="16851240" cy="464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21000"/>
              </a:lnSpc>
              <a:tabLst>
                <a:tab pos="0" algn="l"/>
              </a:tabLst>
            </a:pPr>
            <a:r>
              <a:rPr lang="en-US" sz="2400" b="0" u="none" strike="noStrike">
                <a:solidFill>
                  <a:srgbClr val="000000"/>
                </a:solidFill>
                <a:effectLst/>
                <a:uFillTx/>
                <a:latin typeface="Arial"/>
                <a:ea typeface="Arial"/>
              </a:rPr>
              <a:t>Python-Paket </a:t>
            </a:r>
            <a:r>
              <a:rPr lang="en-US" sz="2210" b="0" u="none" strike="noStrike">
                <a:solidFill>
                  <a:srgbClr val="000000"/>
                </a:solidFill>
                <a:effectLst/>
                <a:uFillTx/>
                <a:latin typeface="Courier New"/>
                <a:ea typeface="Courier New"/>
              </a:rPr>
              <a:t>gpubench </a:t>
            </a:r>
            <a:r>
              <a:rPr lang="en-US" sz="2400" b="0" u="none" strike="noStrike">
                <a:solidFill>
                  <a:srgbClr val="000000"/>
                </a:solidFill>
                <a:effectLst/>
                <a:uFillTx/>
                <a:latin typeface="Arial"/>
                <a:ea typeface="Arial"/>
              </a:rPr>
              <a:t>mit CLI</a:t>
            </a:r>
            <a:endParaRPr lang="de-DE" sz="2400" b="0" u="none" strike="noStrike">
              <a:solidFill>
                <a:srgbClr val="000000"/>
              </a:solidFill>
              <a:effectLst/>
              <a:uFillTx/>
              <a:latin typeface="Arial"/>
            </a:endParaRPr>
          </a:p>
        </p:txBody>
      </p:sp>
      <p:sp>
        <p:nvSpPr>
          <p:cNvPr id="18" name="Text 3"/>
          <p:cNvSpPr/>
          <p:nvPr/>
        </p:nvSpPr>
        <p:spPr>
          <a:xfrm>
            <a:off x="1329840" y="2719440"/>
            <a:ext cx="16851240" cy="464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21000"/>
              </a:lnSpc>
              <a:tabLst>
                <a:tab pos="0" algn="l"/>
              </a:tabLst>
            </a:pPr>
            <a:r>
              <a:rPr lang="en-US" sz="2400" b="0" u="none" strike="noStrike">
                <a:solidFill>
                  <a:srgbClr val="000000"/>
                </a:solidFill>
                <a:effectLst/>
                <a:uFillTx/>
                <a:latin typeface="Arial"/>
                <a:ea typeface="Arial"/>
              </a:rPr>
              <a:t>Im Grunde ein </a:t>
            </a:r>
            <a:r>
              <a:rPr lang="en-US" sz="2210" b="0" u="none" strike="noStrike">
                <a:solidFill>
                  <a:srgbClr val="000000"/>
                </a:solidFill>
                <a:effectLst/>
                <a:uFillTx/>
                <a:latin typeface="Courier New"/>
                <a:ea typeface="Courier New"/>
              </a:rPr>
              <a:t>pyopencl</a:t>
            </a:r>
            <a:r>
              <a:rPr lang="en-US" sz="2400" b="0" u="none" strike="noStrike">
                <a:solidFill>
                  <a:srgbClr val="000000"/>
                </a:solidFill>
                <a:effectLst/>
                <a:uFillTx/>
                <a:latin typeface="Arial"/>
                <a:ea typeface="Arial"/>
              </a:rPr>
              <a:t>, </a:t>
            </a:r>
            <a:r>
              <a:rPr lang="en-US" sz="2210" b="0" u="none" strike="noStrike">
                <a:solidFill>
                  <a:srgbClr val="000000"/>
                </a:solidFill>
                <a:effectLst/>
                <a:uFillTx/>
                <a:latin typeface="Courier New"/>
                <a:ea typeface="Courier New"/>
              </a:rPr>
              <a:t>numpy </a:t>
            </a:r>
            <a:r>
              <a:rPr lang="en-US" sz="2400" b="0" u="none" strike="noStrike">
                <a:solidFill>
                  <a:srgbClr val="000000"/>
                </a:solidFill>
                <a:effectLst/>
                <a:uFillTx/>
                <a:latin typeface="Arial"/>
                <a:ea typeface="Arial"/>
              </a:rPr>
              <a:t>und </a:t>
            </a:r>
            <a:r>
              <a:rPr lang="en-US" sz="2210" b="0" u="none" strike="noStrike">
                <a:solidFill>
                  <a:srgbClr val="000000"/>
                </a:solidFill>
                <a:effectLst/>
                <a:uFillTx/>
                <a:latin typeface="Courier New"/>
                <a:ea typeface="Courier New"/>
              </a:rPr>
              <a:t>matplotlib Wrapper</a:t>
            </a:r>
            <a:endParaRPr lang="de-DE" sz="2210" b="0" u="none" strike="noStrike">
              <a:solidFill>
                <a:srgbClr val="000000"/>
              </a:solidFill>
              <a:effectLst/>
              <a:uFillTx/>
              <a:latin typeface="Arial"/>
            </a:endParaRPr>
          </a:p>
        </p:txBody>
      </p:sp>
      <p:sp>
        <p:nvSpPr>
          <p:cNvPr id="19" name="Text 4"/>
          <p:cNvSpPr/>
          <p:nvPr/>
        </p:nvSpPr>
        <p:spPr>
          <a:xfrm>
            <a:off x="1329840" y="3298680"/>
            <a:ext cx="15792480" cy="8910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21000"/>
              </a:lnSpc>
              <a:tabLst>
                <a:tab pos="0" algn="l"/>
              </a:tabLst>
            </a:pPr>
            <a:r>
              <a:rPr lang="en-US" sz="2400" b="0" u="none" strike="noStrike">
                <a:solidFill>
                  <a:srgbClr val="000000"/>
                </a:solidFill>
                <a:effectLst/>
                <a:uFillTx/>
                <a:latin typeface="Arial"/>
                <a:ea typeface="Arial"/>
              </a:rPr>
              <a:t>Drei OpenCL-Kernel: </a:t>
            </a:r>
            <a:r>
              <a:rPr lang="en-US" sz="2210" b="0" u="none" strike="noStrike">
                <a:solidFill>
                  <a:srgbClr val="000000"/>
                </a:solidFill>
                <a:effectLst/>
                <a:uFillTx/>
                <a:latin typeface="Courier New"/>
                <a:ea typeface="Courier New"/>
              </a:rPr>
              <a:t>compute_uniform.cl </a:t>
            </a:r>
            <a:r>
              <a:rPr lang="en-US" sz="2400" b="0" u="none" strike="noStrike">
                <a:solidFill>
                  <a:srgbClr val="000000"/>
                </a:solidFill>
                <a:effectLst/>
                <a:uFillTx/>
                <a:latin typeface="Arial"/>
                <a:ea typeface="Arial"/>
              </a:rPr>
              <a:t>&amp; </a:t>
            </a:r>
            <a:r>
              <a:rPr lang="en-US" sz="2210" b="0" u="none" strike="noStrike">
                <a:solidFill>
                  <a:srgbClr val="000000"/>
                </a:solidFill>
                <a:effectLst/>
                <a:uFillTx/>
                <a:latin typeface="Courier New"/>
                <a:ea typeface="Courier New"/>
              </a:rPr>
              <a:t>compute_divergent.cl </a:t>
            </a:r>
            <a:r>
              <a:rPr lang="en-US" sz="2400" b="0" u="none" strike="noStrike">
                <a:solidFill>
                  <a:srgbClr val="000000"/>
                </a:solidFill>
                <a:effectLst/>
                <a:uFillTx/>
                <a:latin typeface="Arial"/>
                <a:ea typeface="Arial"/>
              </a:rPr>
              <a:t>(Rechenintensiv für Nr. 1) sowie </a:t>
            </a:r>
            <a:r>
              <a:rPr lang="en-US" sz="2210" b="0" u="none" strike="noStrike">
                <a:solidFill>
                  <a:srgbClr val="000000"/>
                </a:solidFill>
                <a:effectLst/>
                <a:uFillTx/>
                <a:latin typeface="Courier New"/>
                <a:ea typeface="Courier New"/>
              </a:rPr>
              <a:t>memory.cl </a:t>
            </a:r>
            <a:r>
              <a:rPr lang="en-US" sz="2400" b="0" u="none" strike="noStrike">
                <a:solidFill>
                  <a:srgbClr val="000000"/>
                </a:solidFill>
                <a:effectLst/>
                <a:uFillTx/>
                <a:latin typeface="Arial"/>
                <a:ea typeface="Arial"/>
              </a:rPr>
              <a:t>(Streaming für Nr. 2)</a:t>
            </a:r>
            <a:endParaRPr lang="de-DE" sz="2400" b="0" u="none" strike="noStrike">
              <a:solidFill>
                <a:srgbClr val="000000"/>
              </a:solidFill>
              <a:effectLst/>
              <a:uFillTx/>
              <a:latin typeface="Arial"/>
            </a:endParaRPr>
          </a:p>
        </p:txBody>
      </p:sp>
      <p:sp>
        <p:nvSpPr>
          <p:cNvPr id="20" name="Text 5"/>
          <p:cNvSpPr/>
          <p:nvPr/>
        </p:nvSpPr>
        <p:spPr>
          <a:xfrm>
            <a:off x="1329840" y="4304520"/>
            <a:ext cx="16851240" cy="464400"/>
          </a:xfrm>
          <a:prstGeom prst="rect">
            <a:avLst/>
          </a:prstGeom>
          <a:noFill/>
          <a:ln w="0">
            <a:noFill/>
          </a:ln>
        </p:spPr>
        <p:style>
          <a:lnRef idx="0"/>
          <a:fillRef idx="0"/>
          <a:effectRef idx="0"/>
          <a:fontRef idx="minor"/>
        </p:style>
        <p:txBody>
          <a:bodyPr lIns="25560" tIns="25560" rIns="25560" bIns="25560" anchor="t">
            <a:normAutofit lnSpcReduction="9999"/>
          </a:bodyPr>
          <a:p>
            <a:pPr marL="213480" indent="-213480" defTabSz="914400">
              <a:lnSpc>
                <a:spcPct val="121000"/>
              </a:lnSpc>
              <a:buClr>
                <a:srgbClr val="000000"/>
              </a:buClr>
              <a:buFont typeface="Symbol" charset="2"/>
              <a:buChar char=""/>
              <a:tabLst>
                <a:tab pos="213480" algn="l"/>
              </a:tabLst>
            </a:pPr>
            <a:r>
              <a:rPr lang="en-US" sz="2400" b="0" u="none" strike="noStrike">
                <a:solidFill>
                  <a:srgbClr val="000000"/>
                </a:solidFill>
                <a:effectLst/>
                <a:uFillTx/>
                <a:latin typeface="Arial"/>
                <a:ea typeface="Arial"/>
              </a:rPr>
              <a:t>NumPy-CPU-Referenz für dieselben Workloads</a:t>
            </a:r>
            <a:endParaRPr lang="de-DE" sz="2400" b="0" u="none" strike="noStrike">
              <a:solidFill>
                <a:srgbClr val="000000"/>
              </a:solidFill>
              <a:effectLst/>
              <a:uFillTx/>
              <a:latin typeface="Arial"/>
            </a:endParaRPr>
          </a:p>
        </p:txBody>
      </p:sp>
      <p:sp>
        <p:nvSpPr>
          <p:cNvPr id="21" name="Text 6"/>
          <p:cNvSpPr/>
          <p:nvPr/>
        </p:nvSpPr>
        <p:spPr>
          <a:xfrm>
            <a:off x="1329840" y="4883400"/>
            <a:ext cx="16851240" cy="464400"/>
          </a:xfrm>
          <a:prstGeom prst="rect">
            <a:avLst/>
          </a:prstGeom>
          <a:noFill/>
          <a:ln w="0">
            <a:noFill/>
          </a:ln>
        </p:spPr>
        <p:style>
          <a:lnRef idx="0"/>
          <a:fillRef idx="0"/>
          <a:effectRef idx="0"/>
          <a:fontRef idx="minor"/>
        </p:style>
        <p:txBody>
          <a:bodyPr lIns="25560" tIns="25560" rIns="25560" bIns="25560" anchor="t">
            <a:normAutofit lnSpcReduction="9999"/>
          </a:bodyPr>
          <a:p>
            <a:pPr marL="213480" indent="-213480" defTabSz="914400">
              <a:lnSpc>
                <a:spcPct val="121000"/>
              </a:lnSpc>
              <a:buClr>
                <a:srgbClr val="000000"/>
              </a:buClr>
              <a:buFont typeface="Symbol" charset="2"/>
              <a:buChar char=""/>
              <a:tabLst>
                <a:tab pos="213480" algn="l"/>
              </a:tabLst>
            </a:pPr>
            <a:r>
              <a:rPr lang="en-US" sz="2400" b="0" u="none" strike="noStrike">
                <a:solidFill>
                  <a:srgbClr val="000000"/>
                </a:solidFill>
                <a:effectLst/>
                <a:uFillTx/>
                <a:latin typeface="Arial"/>
                <a:ea typeface="Arial"/>
              </a:rPr>
              <a:t>Zeitmessung über OpenCL-Profiling-Events, Median aus sieben Läufen</a:t>
            </a:r>
            <a:endParaRPr lang="de-DE" sz="2400" b="0" u="none" strike="noStrike">
              <a:solidFill>
                <a:srgbClr val="000000"/>
              </a:solidFill>
              <a:effectLst/>
              <a:uFillTx/>
              <a:latin typeface="Arial"/>
            </a:endParaRPr>
          </a:p>
        </p:txBody>
      </p:sp>
      <p:sp>
        <p:nvSpPr>
          <p:cNvPr id="22" name="Text 7"/>
          <p:cNvSpPr/>
          <p:nvPr/>
        </p:nvSpPr>
        <p:spPr>
          <a:xfrm>
            <a:off x="1238400" y="8953560"/>
            <a:ext cx="185400" cy="323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500" b="0" u="none" strike="noStrike">
                <a:solidFill>
                  <a:srgbClr val="9CA3AF"/>
                </a:solidFill>
                <a:effectLst/>
                <a:uFillTx/>
                <a:latin typeface="Arial"/>
                <a:ea typeface="Arial"/>
              </a:rPr>
              <a:t>2</a:t>
            </a:r>
            <a:endParaRPr lang="de-DE"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Text 0"/>
          <p:cNvSpPr/>
          <p:nvPr/>
        </p:nvSpPr>
        <p:spPr>
          <a:xfrm>
            <a:off x="1238400" y="914400"/>
            <a:ext cx="17392320" cy="352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pc="264" strike="noStrike">
                <a:solidFill>
                  <a:srgbClr val="9CA3AF"/>
                </a:solidFill>
                <a:effectLst/>
                <a:uFillTx/>
                <a:latin typeface="Arial"/>
                <a:ea typeface="Arial"/>
              </a:rPr>
              <a:t>AUFGABE 1</a:t>
            </a:r>
            <a:endParaRPr lang="de-DE" sz="1650" b="0" u="none" strike="noStrike">
              <a:solidFill>
                <a:srgbClr val="000000"/>
              </a:solidFill>
              <a:effectLst/>
              <a:uFillTx/>
              <a:latin typeface="Arial"/>
            </a:endParaRPr>
          </a:p>
        </p:txBody>
      </p:sp>
      <p:sp>
        <p:nvSpPr>
          <p:cNvPr id="24" name="Text 1"/>
          <p:cNvSpPr/>
          <p:nvPr/>
        </p:nvSpPr>
        <p:spPr>
          <a:xfrm>
            <a:off x="1238400" y="1362240"/>
            <a:ext cx="17392320" cy="5806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8000"/>
              </a:lnSpc>
              <a:tabLst>
                <a:tab pos="0" algn="l"/>
              </a:tabLst>
            </a:pPr>
            <a:r>
              <a:rPr lang="en-US" sz="3750" b="1" u="none" spc="-37" strike="noStrike">
                <a:solidFill>
                  <a:srgbClr val="000000"/>
                </a:solidFill>
                <a:effectLst/>
                <a:uFillTx/>
                <a:latin typeface="Arial"/>
                <a:ea typeface="Arial"/>
              </a:rPr>
              <a:t>Was kostet Warp-Divergenz?</a:t>
            </a:r>
            <a:endParaRPr lang="de-DE" sz="3750" b="0" u="none" strike="noStrike">
              <a:solidFill>
                <a:srgbClr val="000000"/>
              </a:solidFill>
              <a:effectLst/>
              <a:uFillTx/>
              <a:latin typeface="Arial"/>
            </a:endParaRPr>
          </a:p>
        </p:txBody>
      </p:sp>
      <p:sp>
        <p:nvSpPr>
          <p:cNvPr id="25" name="Shape 2"/>
          <p:cNvSpPr/>
          <p:nvPr/>
        </p:nvSpPr>
        <p:spPr>
          <a:xfrm>
            <a:off x="1238400" y="2095560"/>
            <a:ext cx="1581120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26" name="Text 3"/>
          <p:cNvSpPr/>
          <p:nvPr/>
        </p:nvSpPr>
        <p:spPr>
          <a:xfrm>
            <a:off x="1323000" y="2610000"/>
            <a:ext cx="17172360" cy="4777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21000"/>
              </a:lnSpc>
              <a:tabLst>
                <a:tab pos="0" algn="l"/>
              </a:tabLst>
            </a:pPr>
            <a:r>
              <a:rPr lang="en-US" sz="2470" b="0" u="none" strike="noStrike">
                <a:solidFill>
                  <a:srgbClr val="000000"/>
                </a:solidFill>
                <a:effectLst/>
                <a:uFillTx/>
                <a:latin typeface="Arial"/>
                <a:ea typeface="Arial"/>
              </a:rPr>
              <a:t>Rechenintensiver Kernel, feste Zahl von FMA-Schritten (</a:t>
            </a:r>
            <a:r>
              <a:rPr lang="en-US" sz="2470" b="0" i="1" u="none" strike="noStrike">
                <a:solidFill>
                  <a:srgbClr val="000000"/>
                </a:solidFill>
                <a:effectLst/>
                <a:uFillTx/>
                <a:latin typeface="Arial"/>
                <a:ea typeface="Arial"/>
              </a:rPr>
              <a:t>Fused Multiply Add</a:t>
            </a:r>
            <a:r>
              <a:rPr lang="en-US" sz="2470" b="0" u="none" strike="noStrike">
                <a:solidFill>
                  <a:srgbClr val="000000"/>
                </a:solidFill>
                <a:effectLst/>
                <a:uFillTx/>
                <a:latin typeface="Arial"/>
                <a:ea typeface="Arial"/>
              </a:rPr>
              <a:t>)</a:t>
            </a:r>
            <a:endParaRPr lang="de-DE" sz="2470" b="0" u="none" strike="noStrike">
              <a:solidFill>
                <a:srgbClr val="000000"/>
              </a:solidFill>
              <a:effectLst/>
              <a:uFillTx/>
              <a:latin typeface="Arial"/>
            </a:endParaRPr>
          </a:p>
        </p:txBody>
      </p:sp>
      <p:sp>
        <p:nvSpPr>
          <p:cNvPr id="27" name="Text 4"/>
          <p:cNvSpPr/>
          <p:nvPr/>
        </p:nvSpPr>
        <p:spPr>
          <a:xfrm>
            <a:off x="1323000" y="3202200"/>
            <a:ext cx="17172360" cy="477720"/>
          </a:xfrm>
          <a:prstGeom prst="rect">
            <a:avLst/>
          </a:prstGeom>
          <a:noFill/>
          <a:ln w="0">
            <a:noFill/>
          </a:ln>
        </p:spPr>
        <p:style>
          <a:lnRef idx="0"/>
          <a:fillRef idx="0"/>
          <a:effectRef idx="0"/>
          <a:fontRef idx="minor"/>
        </p:style>
        <p:txBody>
          <a:bodyPr lIns="25560" tIns="25560" rIns="25560" bIns="25560" anchor="t">
            <a:normAutofit lnSpcReduction="9999"/>
          </a:bodyPr>
          <a:p>
            <a:pPr marL="219960" indent="-219960" defTabSz="914400">
              <a:lnSpc>
                <a:spcPct val="121000"/>
              </a:lnSpc>
              <a:buClr>
                <a:srgbClr val="000000"/>
              </a:buClr>
              <a:buFont typeface="Symbol" charset="2"/>
              <a:buChar char=""/>
              <a:tabLst>
                <a:tab pos="219960" algn="l"/>
              </a:tabLst>
            </a:pPr>
            <a:r>
              <a:rPr lang="en-US" sz="2470" b="0" u="none" strike="noStrike">
                <a:solidFill>
                  <a:srgbClr val="000000"/>
                </a:solidFill>
                <a:effectLst/>
                <a:uFillTx/>
                <a:latin typeface="Arial"/>
                <a:ea typeface="Arial"/>
              </a:rPr>
              <a:t>Schritt 1: Ab welcher Problemgröße ist die GPU ausgelastet?</a:t>
            </a:r>
            <a:endParaRPr lang="de-DE" sz="2470" b="0" u="none" strike="noStrike">
              <a:solidFill>
                <a:srgbClr val="000000"/>
              </a:solidFill>
              <a:effectLst/>
              <a:uFillTx/>
              <a:latin typeface="Arial"/>
            </a:endParaRPr>
          </a:p>
        </p:txBody>
      </p:sp>
      <p:sp>
        <p:nvSpPr>
          <p:cNvPr id="28" name="Text 5"/>
          <p:cNvSpPr/>
          <p:nvPr/>
        </p:nvSpPr>
        <p:spPr>
          <a:xfrm>
            <a:off x="1323000" y="3794400"/>
            <a:ext cx="17172360" cy="477720"/>
          </a:xfrm>
          <a:prstGeom prst="rect">
            <a:avLst/>
          </a:prstGeom>
          <a:noFill/>
          <a:ln w="0">
            <a:noFill/>
          </a:ln>
        </p:spPr>
        <p:style>
          <a:lnRef idx="0"/>
          <a:fillRef idx="0"/>
          <a:effectRef idx="0"/>
          <a:fontRef idx="minor"/>
        </p:style>
        <p:txBody>
          <a:bodyPr lIns="25560" tIns="25560" rIns="25560" bIns="25560" anchor="t">
            <a:normAutofit lnSpcReduction="9999"/>
          </a:bodyPr>
          <a:p>
            <a:pPr marL="219960" indent="-219960" defTabSz="914400">
              <a:lnSpc>
                <a:spcPct val="121000"/>
              </a:lnSpc>
              <a:buClr>
                <a:srgbClr val="000000"/>
              </a:buClr>
              <a:buFont typeface="Symbol" charset="2"/>
              <a:buChar char=""/>
              <a:tabLst>
                <a:tab pos="219960" algn="l"/>
              </a:tabLst>
            </a:pPr>
            <a:r>
              <a:rPr lang="en-US" sz="2470" b="0" u="none" strike="noStrike">
                <a:solidFill>
                  <a:srgbClr val="000000"/>
                </a:solidFill>
                <a:effectLst/>
                <a:uFillTx/>
                <a:latin typeface="Arial"/>
                <a:ea typeface="Arial"/>
              </a:rPr>
              <a:t>Schritt 2: Was kostet es dann, wenn Lanes eines Warps verschiedene Pfade nehmen?</a:t>
            </a:r>
            <a:endParaRPr lang="de-DE" sz="2470" b="0" u="none" strike="noStrike">
              <a:solidFill>
                <a:srgbClr val="000000"/>
              </a:solidFill>
              <a:effectLst/>
              <a:uFillTx/>
              <a:latin typeface="Arial"/>
            </a:endParaRPr>
          </a:p>
        </p:txBody>
      </p:sp>
      <p:sp>
        <p:nvSpPr>
          <p:cNvPr id="29" name="Text 6"/>
          <p:cNvSpPr/>
          <p:nvPr/>
        </p:nvSpPr>
        <p:spPr>
          <a:xfrm>
            <a:off x="1323000" y="4386960"/>
            <a:ext cx="17172360" cy="4777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21000"/>
              </a:lnSpc>
              <a:tabLst>
                <a:tab pos="0" algn="l"/>
              </a:tabLst>
            </a:pPr>
            <a:r>
              <a:rPr lang="en-US" sz="2470" b="0" u="none" strike="noStrike">
                <a:solidFill>
                  <a:srgbClr val="000000"/>
                </a:solidFill>
                <a:effectLst/>
                <a:uFillTx/>
                <a:latin typeface="Arial"/>
                <a:ea typeface="Arial"/>
              </a:rPr>
              <a:t>Messgröße: Durchsatz in GFLOP/s (</a:t>
            </a:r>
            <a:r>
              <a:rPr lang="en-US" sz="2470" b="0" i="1" u="none" strike="noStrike">
                <a:solidFill>
                  <a:srgbClr val="000000"/>
                </a:solidFill>
                <a:effectLst/>
                <a:uFillTx/>
                <a:latin typeface="Arial"/>
                <a:ea typeface="Arial"/>
              </a:rPr>
              <a:t>Floating Point Operations per Second</a:t>
            </a:r>
            <a:r>
              <a:rPr lang="en-US" sz="2470" b="0" u="none" strike="noStrike">
                <a:solidFill>
                  <a:srgbClr val="000000"/>
                </a:solidFill>
                <a:effectLst/>
                <a:uFillTx/>
                <a:latin typeface="Arial"/>
                <a:ea typeface="Arial"/>
              </a:rPr>
              <a:t>)</a:t>
            </a:r>
            <a:endParaRPr lang="de-DE" sz="2470" b="0" u="none" strike="noStrike">
              <a:solidFill>
                <a:srgbClr val="000000"/>
              </a:solidFill>
              <a:effectLst/>
              <a:uFillTx/>
              <a:latin typeface="Arial"/>
            </a:endParaRPr>
          </a:p>
        </p:txBody>
      </p:sp>
      <p:sp>
        <p:nvSpPr>
          <p:cNvPr id="30" name="Text 7"/>
          <p:cNvSpPr/>
          <p:nvPr/>
        </p:nvSpPr>
        <p:spPr>
          <a:xfrm>
            <a:off x="1238400" y="8953560"/>
            <a:ext cx="187920" cy="323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500" b="0" u="none" strike="noStrike">
                <a:solidFill>
                  <a:srgbClr val="9CA3AF"/>
                </a:solidFill>
                <a:effectLst/>
                <a:uFillTx/>
                <a:latin typeface="Arial"/>
                <a:ea typeface="Arial"/>
              </a:rPr>
              <a:t>3</a:t>
            </a:r>
            <a:endParaRPr lang="de-DE"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Text 0"/>
          <p:cNvSpPr/>
          <p:nvPr/>
        </p:nvSpPr>
        <p:spPr>
          <a:xfrm>
            <a:off x="1047600" y="762120"/>
            <a:ext cx="17811360" cy="352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pc="264" strike="noStrike">
                <a:solidFill>
                  <a:srgbClr val="9CA3AF"/>
                </a:solidFill>
                <a:effectLst/>
                <a:uFillTx/>
                <a:latin typeface="Arial"/>
                <a:ea typeface="Arial"/>
              </a:rPr>
              <a:t>AUFGABE 1</a:t>
            </a:r>
            <a:endParaRPr lang="de-DE" sz="1650" b="0" u="none" strike="noStrike">
              <a:solidFill>
                <a:srgbClr val="000000"/>
              </a:solidFill>
              <a:effectLst/>
              <a:uFillTx/>
              <a:latin typeface="Arial"/>
            </a:endParaRPr>
          </a:p>
        </p:txBody>
      </p:sp>
      <p:sp>
        <p:nvSpPr>
          <p:cNvPr id="32" name="Text 1"/>
          <p:cNvSpPr/>
          <p:nvPr/>
        </p:nvSpPr>
        <p:spPr>
          <a:xfrm>
            <a:off x="1047600" y="1209600"/>
            <a:ext cx="17811360" cy="5497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7000"/>
              </a:lnSpc>
              <a:tabLst>
                <a:tab pos="0" algn="l"/>
              </a:tabLst>
            </a:pPr>
            <a:r>
              <a:rPr lang="en-US" sz="3600" b="1" u="none" spc="-37" strike="noStrike">
                <a:solidFill>
                  <a:srgbClr val="000000"/>
                </a:solidFill>
                <a:effectLst/>
                <a:uFillTx/>
                <a:latin typeface="Arial"/>
                <a:ea typeface="Arial"/>
              </a:rPr>
              <a:t>FMA Funktion</a:t>
            </a:r>
            <a:endParaRPr lang="de-DE" sz="3600" b="0" u="none" strike="noStrike">
              <a:solidFill>
                <a:srgbClr val="000000"/>
              </a:solidFill>
              <a:effectLst/>
              <a:uFillTx/>
              <a:latin typeface="Arial"/>
            </a:endParaRPr>
          </a:p>
        </p:txBody>
      </p:sp>
      <p:sp>
        <p:nvSpPr>
          <p:cNvPr id="33" name="Shape 2"/>
          <p:cNvSpPr/>
          <p:nvPr/>
        </p:nvSpPr>
        <p:spPr>
          <a:xfrm>
            <a:off x="1047600" y="191232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34" name="Shape 3"/>
          <p:cNvSpPr/>
          <p:nvPr/>
        </p:nvSpPr>
        <p:spPr>
          <a:xfrm>
            <a:off x="1047600" y="2274120"/>
            <a:ext cx="16192080" cy="3426480"/>
          </a:xfrm>
          <a:prstGeom prst="rect">
            <a:avLst/>
          </a:prstGeom>
          <a:solidFill>
            <a:srgbClr val="F3F4F6"/>
          </a:solidFill>
          <a:ln w="0">
            <a:noFill/>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5" name="Shape 4"/>
          <p:cNvSpPr/>
          <p:nvPr/>
        </p:nvSpPr>
        <p:spPr>
          <a:xfrm>
            <a:off x="1047600" y="2274120"/>
            <a:ext cx="56880" cy="3426480"/>
          </a:xfrm>
          <a:prstGeom prst="rect">
            <a:avLst/>
          </a:prstGeom>
          <a:solidFill>
            <a:srgbClr val="D1D5DB"/>
          </a:solidFill>
          <a:ln w="0">
            <a:noFill/>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6" name="Text 5"/>
          <p:cNvSpPr/>
          <p:nvPr/>
        </p:nvSpPr>
        <p:spPr>
          <a:xfrm>
            <a:off x="1486080" y="2579040"/>
            <a:ext cx="15834240" cy="507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49000"/>
              </a:lnSpc>
              <a:tabLst>
                <a:tab pos="0" algn="l"/>
              </a:tabLst>
            </a:pPr>
            <a:r>
              <a:rPr lang="en-US" sz="2170" b="0" u="none" strike="noStrike">
                <a:solidFill>
                  <a:srgbClr val="111827"/>
                </a:solidFill>
                <a:effectLst/>
                <a:uFillTx/>
                <a:latin typeface="Courier New"/>
                <a:ea typeface="Courier New"/>
              </a:rPr>
              <a:t>inline float work(float x) {</a:t>
            </a:r>
            <a:endParaRPr lang="de-DE" sz="2170" b="0" u="none" strike="noStrike">
              <a:solidFill>
                <a:srgbClr val="000000"/>
              </a:solidFill>
              <a:effectLst/>
              <a:uFillTx/>
              <a:latin typeface="Arial"/>
            </a:endParaRPr>
          </a:p>
        </p:txBody>
      </p:sp>
      <p:sp>
        <p:nvSpPr>
          <p:cNvPr id="37" name="Text 6"/>
          <p:cNvSpPr/>
          <p:nvPr/>
        </p:nvSpPr>
        <p:spPr>
          <a:xfrm>
            <a:off x="1486080" y="3048480"/>
            <a:ext cx="15834240" cy="507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49000"/>
              </a:lnSpc>
              <a:tabLst>
                <a:tab pos="0" algn="l"/>
              </a:tabLst>
            </a:pPr>
            <a:r>
              <a:rPr lang="en-US" sz="2170" b="0" u="none" strike="noStrike">
                <a:solidFill>
                  <a:srgbClr val="111827"/>
                </a:solidFill>
                <a:effectLst/>
                <a:uFillTx/>
                <a:latin typeface="Courier New"/>
                <a:ea typeface="Courier New"/>
              </a:rPr>
              <a:t>    for (int i = 0; i &lt; KITERS; ++i) {</a:t>
            </a:r>
            <a:endParaRPr lang="de-DE" sz="2170" b="0" u="none" strike="noStrike">
              <a:solidFill>
                <a:srgbClr val="000000"/>
              </a:solidFill>
              <a:effectLst/>
              <a:uFillTx/>
              <a:latin typeface="Arial"/>
            </a:endParaRPr>
          </a:p>
        </p:txBody>
      </p:sp>
      <p:sp>
        <p:nvSpPr>
          <p:cNvPr id="38" name="Shape 7"/>
          <p:cNvSpPr/>
          <p:nvPr/>
        </p:nvSpPr>
        <p:spPr>
          <a:xfrm>
            <a:off x="1104840" y="3517920"/>
            <a:ext cx="37800" cy="469080"/>
          </a:xfrm>
          <a:prstGeom prst="rect">
            <a:avLst/>
          </a:prstGeom>
          <a:solidFill>
            <a:srgbClr val="2A4B9A"/>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39" name="Text 8"/>
          <p:cNvSpPr/>
          <p:nvPr/>
        </p:nvSpPr>
        <p:spPr>
          <a:xfrm>
            <a:off x="1486080" y="3517920"/>
            <a:ext cx="15845760" cy="507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49000"/>
              </a:lnSpc>
              <a:tabLst>
                <a:tab pos="0" algn="l"/>
              </a:tabLst>
            </a:pPr>
            <a:r>
              <a:rPr lang="en-US" sz="2170" b="0" u="none" strike="noStrike">
                <a:solidFill>
                  <a:srgbClr val="2A4B9A"/>
                </a:solidFill>
                <a:effectLst/>
                <a:uFillTx/>
                <a:latin typeface="Courier New"/>
                <a:ea typeface="Courier New"/>
              </a:rPr>
              <a:t>        x = x * COEF + BIAS;</a:t>
            </a:r>
            <a:r>
              <a:rPr lang="en-US" sz="2170" b="0" u="none" strike="noStrike">
                <a:solidFill>
                  <a:srgbClr val="6B7280"/>
                </a:solidFill>
                <a:effectLst/>
                <a:uFillTx/>
                <a:latin typeface="Courier New"/>
                <a:ea typeface="Courier New"/>
              </a:rPr>
              <a:t> // 2 FLOPs</a:t>
            </a:r>
            <a:endParaRPr lang="de-DE" sz="2170" b="0" u="none" strike="noStrike">
              <a:solidFill>
                <a:srgbClr val="000000"/>
              </a:solidFill>
              <a:effectLst/>
              <a:uFillTx/>
              <a:latin typeface="Arial"/>
            </a:endParaRPr>
          </a:p>
        </p:txBody>
      </p:sp>
      <p:sp>
        <p:nvSpPr>
          <p:cNvPr id="40" name="Text 9"/>
          <p:cNvSpPr/>
          <p:nvPr/>
        </p:nvSpPr>
        <p:spPr>
          <a:xfrm>
            <a:off x="1486080" y="3987720"/>
            <a:ext cx="15834240" cy="507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49000"/>
              </a:lnSpc>
              <a:tabLst>
                <a:tab pos="0" algn="l"/>
              </a:tabLst>
            </a:pPr>
            <a:r>
              <a:rPr lang="en-US" sz="2170" b="0" u="none" strike="noStrike">
                <a:solidFill>
                  <a:srgbClr val="111827"/>
                </a:solidFill>
                <a:effectLst/>
                <a:uFillTx/>
                <a:latin typeface="Courier New"/>
                <a:ea typeface="Courier New"/>
              </a:rPr>
              <a:t>    }</a:t>
            </a:r>
            <a:endParaRPr lang="de-DE" sz="2170" b="0" u="none" strike="noStrike">
              <a:solidFill>
                <a:srgbClr val="000000"/>
              </a:solidFill>
              <a:effectLst/>
              <a:uFillTx/>
              <a:latin typeface="Arial"/>
            </a:endParaRPr>
          </a:p>
        </p:txBody>
      </p:sp>
      <p:sp>
        <p:nvSpPr>
          <p:cNvPr id="41" name="Text 10"/>
          <p:cNvSpPr/>
          <p:nvPr/>
        </p:nvSpPr>
        <p:spPr>
          <a:xfrm>
            <a:off x="1486080" y="4457160"/>
            <a:ext cx="15834240" cy="507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49000"/>
              </a:lnSpc>
              <a:tabLst>
                <a:tab pos="0" algn="l"/>
              </a:tabLst>
            </a:pPr>
            <a:r>
              <a:rPr lang="en-US" sz="2170" b="0" u="none" strike="noStrike">
                <a:solidFill>
                  <a:srgbClr val="111827"/>
                </a:solidFill>
                <a:effectLst/>
                <a:uFillTx/>
                <a:latin typeface="Courier New"/>
                <a:ea typeface="Courier New"/>
              </a:rPr>
              <a:t>    return x;</a:t>
            </a:r>
            <a:endParaRPr lang="de-DE" sz="2170" b="0" u="none" strike="noStrike">
              <a:solidFill>
                <a:srgbClr val="000000"/>
              </a:solidFill>
              <a:effectLst/>
              <a:uFillTx/>
              <a:latin typeface="Arial"/>
            </a:endParaRPr>
          </a:p>
        </p:txBody>
      </p:sp>
      <p:sp>
        <p:nvSpPr>
          <p:cNvPr id="42" name="Text 11"/>
          <p:cNvSpPr/>
          <p:nvPr/>
        </p:nvSpPr>
        <p:spPr>
          <a:xfrm>
            <a:off x="1486080" y="4926600"/>
            <a:ext cx="15834240" cy="507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49000"/>
              </a:lnSpc>
              <a:tabLst>
                <a:tab pos="0" algn="l"/>
              </a:tabLst>
            </a:pPr>
            <a:r>
              <a:rPr lang="en-US" sz="2170" b="0" u="none" strike="noStrike">
                <a:solidFill>
                  <a:srgbClr val="111827"/>
                </a:solidFill>
                <a:effectLst/>
                <a:uFillTx/>
                <a:latin typeface="Courier New"/>
                <a:ea typeface="Courier New"/>
              </a:rPr>
              <a:t>}</a:t>
            </a:r>
            <a:endParaRPr lang="de-DE" sz="2170" b="0" u="none" strike="noStrike">
              <a:solidFill>
                <a:srgbClr val="000000"/>
              </a:solidFill>
              <a:effectLst/>
              <a:uFillTx/>
              <a:latin typeface="Arial"/>
            </a:endParaRPr>
          </a:p>
        </p:txBody>
      </p:sp>
      <p:sp>
        <p:nvSpPr>
          <p:cNvPr id="43" name="Text 12"/>
          <p:cNvSpPr/>
          <p:nvPr/>
        </p:nvSpPr>
        <p:spPr>
          <a:xfrm>
            <a:off x="1152360" y="6044040"/>
            <a:ext cx="16163640" cy="990360"/>
          </a:xfrm>
          <a:prstGeom prst="rect">
            <a:avLst/>
          </a:prstGeom>
          <a:noFill/>
          <a:ln w="0">
            <a:noFill/>
          </a:ln>
        </p:spPr>
        <p:style>
          <a:lnRef idx="0"/>
          <a:fillRef idx="0"/>
          <a:effectRef idx="0"/>
          <a:fontRef idx="minor"/>
        </p:style>
        <p:txBody>
          <a:bodyPr lIns="25560" tIns="25560" rIns="25560" bIns="25560" anchor="t">
            <a:normAutofit/>
          </a:bodyPr>
          <a:p>
            <a:pPr marL="200160" indent="-200160" defTabSz="914400">
              <a:lnSpc>
                <a:spcPct val="123000"/>
              </a:lnSpc>
              <a:buClr>
                <a:srgbClr val="000000"/>
              </a:buClr>
              <a:buFont typeface="Symbol" charset="2"/>
              <a:buChar char=""/>
              <a:tabLst>
                <a:tab pos="200160" algn="l"/>
              </a:tabLst>
            </a:pPr>
            <a:r>
              <a:rPr lang="en-US" sz="2250" b="0" u="none" strike="noStrike">
                <a:solidFill>
                  <a:srgbClr val="000000"/>
                </a:solidFill>
                <a:effectLst/>
                <a:uFillTx/>
                <a:latin typeface="Arial"/>
                <a:ea typeface="Arial"/>
              </a:rPr>
              <a:t>KITERS Iterationen, je Schritt eine FMA mit 2 FLOPs</a:t>
            </a:r>
            <a:endParaRPr lang="de-DE" sz="2250" b="0" u="none" strike="noStrike">
              <a:solidFill>
                <a:srgbClr val="000000"/>
              </a:solidFill>
              <a:effectLst/>
              <a:uFillTx/>
              <a:latin typeface="Arial"/>
            </a:endParaRPr>
          </a:p>
          <a:p>
            <a:pPr marL="200160" indent="-200160" defTabSz="914400">
              <a:lnSpc>
                <a:spcPct val="123000"/>
              </a:lnSpc>
              <a:buClr>
                <a:srgbClr val="000000"/>
              </a:buClr>
              <a:buFont typeface="Symbol" charset="2"/>
              <a:buChar char=""/>
              <a:tabLst>
                <a:tab pos="200160" algn="l"/>
              </a:tabLst>
            </a:pPr>
            <a:r>
              <a:rPr lang="en-US" sz="2250" b="0" u="none" strike="noStrike">
                <a:solidFill>
                  <a:srgbClr val="000000"/>
                </a:solidFill>
                <a:effectLst/>
                <a:uFillTx/>
                <a:latin typeface="Arial"/>
                <a:ea typeface="Arial"/>
              </a:rPr>
              <a:t>KITERS, COEF und BIAS stehen zur Build-Zeit fest, konstante Arbeit je Aufruf</a:t>
            </a:r>
            <a:endParaRPr lang="de-DE" sz="2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Text 0"/>
          <p:cNvSpPr/>
          <p:nvPr/>
        </p:nvSpPr>
        <p:spPr>
          <a:xfrm>
            <a:off x="1047600" y="762120"/>
            <a:ext cx="17811360" cy="352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pc="264" strike="noStrike">
                <a:solidFill>
                  <a:srgbClr val="9CA3AF"/>
                </a:solidFill>
                <a:effectLst/>
                <a:uFillTx/>
                <a:latin typeface="Arial"/>
                <a:ea typeface="Arial"/>
              </a:rPr>
              <a:t>AUFGABE 1</a:t>
            </a:r>
            <a:endParaRPr lang="de-DE" sz="1650" b="0" u="none" strike="noStrike">
              <a:solidFill>
                <a:srgbClr val="000000"/>
              </a:solidFill>
              <a:effectLst/>
              <a:uFillTx/>
              <a:latin typeface="Arial"/>
            </a:endParaRPr>
          </a:p>
        </p:txBody>
      </p:sp>
      <p:sp>
        <p:nvSpPr>
          <p:cNvPr id="45" name="Text 1"/>
          <p:cNvSpPr/>
          <p:nvPr/>
        </p:nvSpPr>
        <p:spPr>
          <a:xfrm>
            <a:off x="1047600" y="1190520"/>
            <a:ext cx="17811360" cy="5284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5000"/>
              </a:lnSpc>
              <a:tabLst>
                <a:tab pos="0" algn="l"/>
              </a:tabLst>
            </a:pPr>
            <a:r>
              <a:rPr lang="en-US" sz="3450" b="1" u="none" spc="-34" strike="noStrike">
                <a:solidFill>
                  <a:srgbClr val="000000"/>
                </a:solidFill>
                <a:effectLst/>
                <a:uFillTx/>
                <a:latin typeface="Arial"/>
                <a:ea typeface="Arial"/>
              </a:rPr>
              <a:t>Schritt 1: SIMT trägt erst bei ausreichender Auslastung</a:t>
            </a:r>
            <a:endParaRPr lang="de-DE" sz="3450" b="0" u="none" strike="noStrike">
              <a:solidFill>
                <a:srgbClr val="000000"/>
              </a:solidFill>
              <a:effectLst/>
              <a:uFillTx/>
              <a:latin typeface="Arial"/>
            </a:endParaRPr>
          </a:p>
        </p:txBody>
      </p:sp>
      <p:sp>
        <p:nvSpPr>
          <p:cNvPr id="46" name="Shape 2"/>
          <p:cNvSpPr/>
          <p:nvPr/>
        </p:nvSpPr>
        <p:spPr>
          <a:xfrm>
            <a:off x="1047600" y="183384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47" name="Shape 3"/>
          <p:cNvSpPr/>
          <p:nvPr/>
        </p:nvSpPr>
        <p:spPr>
          <a:xfrm>
            <a:off x="1047600" y="2195640"/>
            <a:ext cx="9471600" cy="6203160"/>
          </a:xfrm>
          <a:prstGeom prst="rect">
            <a:avLst/>
          </a:prstGeom>
          <a:noFill/>
          <a:ln w="9525">
            <a:solidFill>
              <a:srgbClr val="D1D5D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8" name="Shape 4"/>
          <p:cNvSpPr/>
          <p:nvPr/>
        </p:nvSpPr>
        <p:spPr>
          <a:xfrm>
            <a:off x="1057320" y="2205360"/>
            <a:ext cx="9452520" cy="6184080"/>
          </a:xfrm>
          <a:prstGeom prst="rect">
            <a:avLst/>
          </a:prstGeom>
          <a:solidFill>
            <a:srgbClr val="000000">
              <a:alpha val="4000"/>
            </a:srgbClr>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pic>
        <p:nvPicPr>
          <p:cNvPr id="49" name="Image 0" descr="preencoded.png"/>
          <p:cNvPicPr/>
          <p:nvPr/>
        </p:nvPicPr>
        <p:blipFill>
          <a:blip r:embed="rId1"/>
          <a:srcRect l="0" t="932" r="0" b="932"/>
          <a:stretch/>
        </p:blipFill>
        <p:spPr>
          <a:xfrm>
            <a:off x="1057320" y="2205360"/>
            <a:ext cx="9452520" cy="6184080"/>
          </a:xfrm>
          <a:prstGeom prst="rect">
            <a:avLst/>
          </a:prstGeom>
          <a:noFill/>
          <a:ln w="0">
            <a:noFill/>
          </a:ln>
        </p:spPr>
      </p:pic>
      <p:sp>
        <p:nvSpPr>
          <p:cNvPr id="50" name="Text 5"/>
          <p:cNvSpPr/>
          <p:nvPr/>
        </p:nvSpPr>
        <p:spPr>
          <a:xfrm>
            <a:off x="1047600" y="8551800"/>
            <a:ext cx="10418760" cy="3441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19000"/>
              </a:lnSpc>
              <a:tabLst>
                <a:tab pos="0" algn="l"/>
              </a:tabLst>
            </a:pPr>
            <a:r>
              <a:rPr lang="en-US" sz="1729" b="0" u="none" strike="noStrike">
                <a:solidFill>
                  <a:srgbClr val="374151"/>
                </a:solidFill>
                <a:effectLst/>
                <a:uFillTx/>
                <a:latin typeface="Arial"/>
                <a:ea typeface="Arial"/>
              </a:rPr>
              <a:t>Abbildung 1: Durchsatz über der Problemgröße n, logarithmische n-Achse.</a:t>
            </a:r>
            <a:endParaRPr lang="de-DE" sz="1729" b="0" u="none" strike="noStrike">
              <a:solidFill>
                <a:srgbClr val="000000"/>
              </a:solidFill>
              <a:effectLst/>
              <a:uFillTx/>
              <a:latin typeface="Arial"/>
            </a:endParaRPr>
          </a:p>
        </p:txBody>
      </p:sp>
      <p:sp>
        <p:nvSpPr>
          <p:cNvPr id="51" name="Text 6"/>
          <p:cNvSpPr/>
          <p:nvPr/>
        </p:nvSpPr>
        <p:spPr>
          <a:xfrm>
            <a:off x="11214000" y="4418280"/>
            <a:ext cx="6606360" cy="4777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21000"/>
              </a:lnSpc>
              <a:tabLst>
                <a:tab pos="0" algn="l"/>
              </a:tabLst>
            </a:pPr>
            <a:r>
              <a:rPr lang="en-US" sz="2470" b="0" u="none" strike="noStrike">
                <a:solidFill>
                  <a:srgbClr val="000000"/>
                </a:solidFill>
                <a:effectLst/>
                <a:uFillTx/>
                <a:latin typeface="Arial"/>
                <a:ea typeface="Arial"/>
              </a:rPr>
              <a:t>n = 1024: </a:t>
            </a:r>
            <a:r>
              <a:rPr lang="en-US" sz="2470" b="1" u="none" strike="noStrike">
                <a:solidFill>
                  <a:srgbClr val="2A4B9A"/>
                </a:solidFill>
                <a:effectLst/>
                <a:uFillTx/>
                <a:latin typeface="Arial"/>
                <a:ea typeface="Arial"/>
              </a:rPr>
              <a:t>23,4 GFLOP/s</a:t>
            </a:r>
            <a:endParaRPr lang="de-DE" sz="2470" b="0" u="none" strike="noStrike">
              <a:solidFill>
                <a:srgbClr val="000000"/>
              </a:solidFill>
              <a:effectLst/>
              <a:uFillTx/>
              <a:latin typeface="Arial"/>
            </a:endParaRPr>
          </a:p>
        </p:txBody>
      </p:sp>
      <p:sp>
        <p:nvSpPr>
          <p:cNvPr id="52" name="Text 7"/>
          <p:cNvSpPr/>
          <p:nvPr/>
        </p:nvSpPr>
        <p:spPr>
          <a:xfrm>
            <a:off x="11214000" y="5010840"/>
            <a:ext cx="6606360" cy="4777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21000"/>
              </a:lnSpc>
              <a:tabLst>
                <a:tab pos="0" algn="l"/>
              </a:tabLst>
            </a:pPr>
            <a:r>
              <a:rPr lang="en-US" sz="2470" b="0" u="none" strike="noStrike">
                <a:solidFill>
                  <a:srgbClr val="000000"/>
                </a:solidFill>
                <a:effectLst/>
                <a:uFillTx/>
                <a:latin typeface="Arial"/>
                <a:ea typeface="Arial"/>
              </a:rPr>
              <a:t>n ≈ 6,7 * 10⁷: </a:t>
            </a:r>
            <a:r>
              <a:rPr lang="en-US" sz="2470" b="1" u="none" strike="noStrike">
                <a:solidFill>
                  <a:srgbClr val="2A4B9A"/>
                </a:solidFill>
                <a:effectLst/>
                <a:uFillTx/>
                <a:latin typeface="Arial"/>
                <a:ea typeface="Arial"/>
              </a:rPr>
              <a:t>3085,3 GFLOP/s</a:t>
            </a:r>
            <a:endParaRPr lang="de-DE" sz="2470" b="0" u="none" strike="noStrike">
              <a:solidFill>
                <a:srgbClr val="000000"/>
              </a:solidFill>
              <a:effectLst/>
              <a:uFillTx/>
              <a:latin typeface="Arial"/>
            </a:endParaRPr>
          </a:p>
        </p:txBody>
      </p:sp>
      <p:sp>
        <p:nvSpPr>
          <p:cNvPr id="53" name="Text 8"/>
          <p:cNvSpPr/>
          <p:nvPr/>
        </p:nvSpPr>
        <p:spPr>
          <a:xfrm>
            <a:off x="11214000" y="5603040"/>
            <a:ext cx="6199920" cy="917640"/>
          </a:xfrm>
          <a:prstGeom prst="rect">
            <a:avLst/>
          </a:prstGeom>
          <a:noFill/>
          <a:ln w="0">
            <a:noFill/>
          </a:ln>
        </p:spPr>
        <p:style>
          <a:lnRef idx="0"/>
          <a:fillRef idx="0"/>
          <a:effectRef idx="0"/>
          <a:fontRef idx="minor"/>
        </p:style>
        <p:txBody>
          <a:bodyPr lIns="25560" tIns="25560" rIns="25560" bIns="25560" anchor="t">
            <a:normAutofit lnSpcReduction="9999"/>
          </a:bodyPr>
          <a:p>
            <a:pPr marL="219960" indent="-219960" defTabSz="914400">
              <a:lnSpc>
                <a:spcPct val="121000"/>
              </a:lnSpc>
              <a:buClr>
                <a:srgbClr val="000000"/>
              </a:buClr>
              <a:buFont typeface="Symbol" charset="2"/>
              <a:buChar char=""/>
              <a:tabLst>
                <a:tab pos="219960" algn="l"/>
              </a:tabLst>
            </a:pPr>
            <a:r>
              <a:rPr lang="en-US" sz="2470" b="0" u="none" strike="noStrike">
                <a:solidFill>
                  <a:srgbClr val="000000"/>
                </a:solidFill>
                <a:effectLst/>
                <a:uFillTx/>
                <a:latin typeface="Arial"/>
                <a:ea typeface="Arial"/>
              </a:rPr>
              <a:t>Sättigung, sobald genug Work-Items die 16 Compute Units füllen.</a:t>
            </a:r>
            <a:endParaRPr lang="de-DE" sz="2470" b="0" u="none" strike="noStrike">
              <a:solidFill>
                <a:srgbClr val="000000"/>
              </a:solidFill>
              <a:effectLst/>
              <a:uFillTx/>
              <a:latin typeface="Arial"/>
            </a:endParaRPr>
          </a:p>
        </p:txBody>
      </p:sp>
      <p:sp>
        <p:nvSpPr>
          <p:cNvPr id="54" name="Text 9"/>
          <p:cNvSpPr/>
          <p:nvPr/>
        </p:nvSpPr>
        <p:spPr>
          <a:xfrm>
            <a:off x="1047600" y="9086760"/>
            <a:ext cx="195480" cy="323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500" b="0" u="none" strike="noStrike">
                <a:solidFill>
                  <a:srgbClr val="9CA3AF"/>
                </a:solidFill>
                <a:effectLst/>
                <a:uFillTx/>
                <a:latin typeface="Arial"/>
                <a:ea typeface="Arial"/>
              </a:rPr>
              <a:t>5</a:t>
            </a:r>
            <a:endParaRPr lang="de-DE"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Text 0"/>
          <p:cNvSpPr/>
          <p:nvPr/>
        </p:nvSpPr>
        <p:spPr>
          <a:xfrm>
            <a:off x="1047600" y="762120"/>
            <a:ext cx="17811360" cy="352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pc="264" strike="noStrike">
                <a:solidFill>
                  <a:srgbClr val="9CA3AF"/>
                </a:solidFill>
                <a:effectLst/>
                <a:uFillTx/>
                <a:latin typeface="Arial"/>
                <a:ea typeface="Arial"/>
              </a:rPr>
              <a:t>AUFGABE 1</a:t>
            </a:r>
            <a:endParaRPr lang="de-DE" sz="1650" b="0" u="none" strike="noStrike">
              <a:solidFill>
                <a:srgbClr val="000000"/>
              </a:solidFill>
              <a:effectLst/>
              <a:uFillTx/>
              <a:latin typeface="Arial"/>
            </a:endParaRPr>
          </a:p>
        </p:txBody>
      </p:sp>
      <p:sp>
        <p:nvSpPr>
          <p:cNvPr id="56" name="Text 1"/>
          <p:cNvSpPr/>
          <p:nvPr/>
        </p:nvSpPr>
        <p:spPr>
          <a:xfrm>
            <a:off x="1047600" y="1209600"/>
            <a:ext cx="17811360" cy="5497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7000"/>
              </a:lnSpc>
              <a:tabLst>
                <a:tab pos="0" algn="l"/>
              </a:tabLst>
            </a:pPr>
            <a:r>
              <a:rPr lang="en-US" sz="3600" b="1" u="none" spc="-37" strike="noStrike">
                <a:solidFill>
                  <a:srgbClr val="000000"/>
                </a:solidFill>
                <a:effectLst/>
                <a:uFillTx/>
                <a:latin typeface="Arial"/>
                <a:ea typeface="Arial"/>
              </a:rPr>
              <a:t>Konstante Arbeit, variable Divergenz</a:t>
            </a:r>
            <a:endParaRPr lang="de-DE" sz="3600" b="0" u="none" strike="noStrike">
              <a:solidFill>
                <a:srgbClr val="000000"/>
              </a:solidFill>
              <a:effectLst/>
              <a:uFillTx/>
              <a:latin typeface="Arial"/>
            </a:endParaRPr>
          </a:p>
        </p:txBody>
      </p:sp>
      <p:sp>
        <p:nvSpPr>
          <p:cNvPr id="57" name="Shape 2"/>
          <p:cNvSpPr/>
          <p:nvPr/>
        </p:nvSpPr>
        <p:spPr>
          <a:xfrm>
            <a:off x="1047600" y="191232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58" name="Shape 3"/>
          <p:cNvSpPr/>
          <p:nvPr/>
        </p:nvSpPr>
        <p:spPr>
          <a:xfrm>
            <a:off x="1047600" y="2274120"/>
            <a:ext cx="16192080" cy="3675240"/>
          </a:xfrm>
          <a:prstGeom prst="rect">
            <a:avLst/>
          </a:prstGeom>
          <a:solidFill>
            <a:srgbClr val="F3F4F6"/>
          </a:solidFill>
          <a:ln w="0">
            <a:noFill/>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9" name="Shape 4"/>
          <p:cNvSpPr/>
          <p:nvPr/>
        </p:nvSpPr>
        <p:spPr>
          <a:xfrm>
            <a:off x="1047600" y="2274120"/>
            <a:ext cx="56880" cy="3675240"/>
          </a:xfrm>
          <a:prstGeom prst="rect">
            <a:avLst/>
          </a:prstGeom>
          <a:solidFill>
            <a:srgbClr val="D1D5DB"/>
          </a:solidFill>
          <a:ln w="0">
            <a:noFill/>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0" name="Text 5"/>
          <p:cNvSpPr/>
          <p:nvPr/>
        </p:nvSpPr>
        <p:spPr>
          <a:xfrm>
            <a:off x="1486080" y="2579040"/>
            <a:ext cx="15834240" cy="507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49000"/>
              </a:lnSpc>
              <a:tabLst>
                <a:tab pos="0" algn="l"/>
              </a:tabLst>
            </a:pPr>
            <a:r>
              <a:rPr lang="en-US" sz="2170" b="0" u="none" strike="noStrike">
                <a:solidFill>
                  <a:srgbClr val="111827"/>
                </a:solidFill>
                <a:effectLst/>
                <a:uFillTx/>
                <a:latin typeface="Courier New"/>
                <a:ea typeface="Courier New"/>
              </a:rPr>
              <a:t>int lane = get_local_id(0) % DEGREE;</a:t>
            </a:r>
            <a:endParaRPr lang="de-DE" sz="2170" b="0" u="none" strike="noStrike">
              <a:solidFill>
                <a:srgbClr val="000000"/>
              </a:solidFill>
              <a:effectLst/>
              <a:uFillTx/>
              <a:latin typeface="Arial"/>
            </a:endParaRPr>
          </a:p>
        </p:txBody>
      </p:sp>
      <p:sp>
        <p:nvSpPr>
          <p:cNvPr id="61" name="Shape 6"/>
          <p:cNvSpPr/>
          <p:nvPr/>
        </p:nvSpPr>
        <p:spPr>
          <a:xfrm>
            <a:off x="1104840" y="3296880"/>
            <a:ext cx="37800" cy="469080"/>
          </a:xfrm>
          <a:prstGeom prst="rect">
            <a:avLst/>
          </a:prstGeom>
          <a:solidFill>
            <a:srgbClr val="2A4B9A"/>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62" name="Text 7"/>
          <p:cNvSpPr/>
          <p:nvPr/>
        </p:nvSpPr>
        <p:spPr>
          <a:xfrm>
            <a:off x="1486080" y="3296880"/>
            <a:ext cx="15845760" cy="507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49000"/>
              </a:lnSpc>
              <a:tabLst>
                <a:tab pos="0" algn="l"/>
              </a:tabLst>
            </a:pPr>
            <a:r>
              <a:rPr lang="en-US" sz="2170" b="0" u="none" strike="noStrike">
                <a:solidFill>
                  <a:srgbClr val="2A4B9A"/>
                </a:solidFill>
                <a:effectLst/>
                <a:uFillTx/>
                <a:latin typeface="Courier New"/>
                <a:ea typeface="Courier New"/>
              </a:rPr>
              <a:t>for (int b = 0; b &lt; DEGREE; ++b) {</a:t>
            </a:r>
            <a:endParaRPr lang="de-DE" sz="2170" b="0" u="none" strike="noStrike">
              <a:solidFill>
                <a:srgbClr val="000000"/>
              </a:solidFill>
              <a:effectLst/>
              <a:uFillTx/>
              <a:latin typeface="Arial"/>
            </a:endParaRPr>
          </a:p>
        </p:txBody>
      </p:sp>
      <p:sp>
        <p:nvSpPr>
          <p:cNvPr id="63" name="Shape 8"/>
          <p:cNvSpPr/>
          <p:nvPr/>
        </p:nvSpPr>
        <p:spPr>
          <a:xfrm>
            <a:off x="1104840" y="3766680"/>
            <a:ext cx="37800" cy="469080"/>
          </a:xfrm>
          <a:prstGeom prst="rect">
            <a:avLst/>
          </a:prstGeom>
          <a:solidFill>
            <a:srgbClr val="2A4B9A"/>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64" name="Text 9"/>
          <p:cNvSpPr/>
          <p:nvPr/>
        </p:nvSpPr>
        <p:spPr>
          <a:xfrm>
            <a:off x="1486080" y="3766680"/>
            <a:ext cx="15845760" cy="507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49000"/>
              </a:lnSpc>
              <a:tabLst>
                <a:tab pos="0" algn="l"/>
              </a:tabLst>
            </a:pPr>
            <a:r>
              <a:rPr lang="en-US" sz="2170" b="0" u="none" strike="noStrike">
                <a:solidFill>
                  <a:srgbClr val="2A4B9A"/>
                </a:solidFill>
                <a:effectLst/>
                <a:uFillTx/>
                <a:latin typeface="Courier New"/>
                <a:ea typeface="Courier New"/>
              </a:rPr>
              <a:t>    if (lane == b) {</a:t>
            </a:r>
            <a:endParaRPr lang="de-DE" sz="2170" b="0" u="none" strike="noStrike">
              <a:solidFill>
                <a:srgbClr val="000000"/>
              </a:solidFill>
              <a:effectLst/>
              <a:uFillTx/>
              <a:latin typeface="Arial"/>
            </a:endParaRPr>
          </a:p>
        </p:txBody>
      </p:sp>
      <p:sp>
        <p:nvSpPr>
          <p:cNvPr id="65" name="Shape 10"/>
          <p:cNvSpPr/>
          <p:nvPr/>
        </p:nvSpPr>
        <p:spPr>
          <a:xfrm>
            <a:off x="1104840" y="4236120"/>
            <a:ext cx="37800" cy="469080"/>
          </a:xfrm>
          <a:prstGeom prst="rect">
            <a:avLst/>
          </a:prstGeom>
          <a:solidFill>
            <a:srgbClr val="2A4B9A"/>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66" name="Text 11"/>
          <p:cNvSpPr/>
          <p:nvPr/>
        </p:nvSpPr>
        <p:spPr>
          <a:xfrm>
            <a:off x="1486080" y="4236120"/>
            <a:ext cx="15845760" cy="507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49000"/>
              </a:lnSpc>
              <a:tabLst>
                <a:tab pos="0" algn="l"/>
              </a:tabLst>
            </a:pPr>
            <a:r>
              <a:rPr lang="en-US" sz="2170" b="0" u="none" strike="noStrike">
                <a:solidFill>
                  <a:srgbClr val="2A4B9A"/>
                </a:solidFill>
                <a:effectLst/>
                <a:uFillTx/>
                <a:latin typeface="Courier New"/>
                <a:ea typeface="Courier New"/>
              </a:rPr>
              <a:t>        x = work(x);</a:t>
            </a:r>
            <a:r>
              <a:rPr lang="en-US" sz="2170" b="0" u="none" strike="noStrike">
                <a:solidFill>
                  <a:srgbClr val="6B7280"/>
                </a:solidFill>
                <a:effectLst/>
                <a:uFillTx/>
                <a:latin typeface="Courier New"/>
                <a:ea typeface="Courier New"/>
              </a:rPr>
              <a:t> // KITERS * 2 FLOPs je Schritt</a:t>
            </a:r>
            <a:endParaRPr lang="de-DE" sz="2170" b="0" u="none" strike="noStrike">
              <a:solidFill>
                <a:srgbClr val="000000"/>
              </a:solidFill>
              <a:effectLst/>
              <a:uFillTx/>
              <a:latin typeface="Arial"/>
            </a:endParaRPr>
          </a:p>
        </p:txBody>
      </p:sp>
      <p:sp>
        <p:nvSpPr>
          <p:cNvPr id="67" name="Shape 12"/>
          <p:cNvSpPr/>
          <p:nvPr/>
        </p:nvSpPr>
        <p:spPr>
          <a:xfrm>
            <a:off x="1104840" y="4705560"/>
            <a:ext cx="37800" cy="469080"/>
          </a:xfrm>
          <a:prstGeom prst="rect">
            <a:avLst/>
          </a:prstGeom>
          <a:solidFill>
            <a:srgbClr val="2A4B9A"/>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68" name="Text 13"/>
          <p:cNvSpPr/>
          <p:nvPr/>
        </p:nvSpPr>
        <p:spPr>
          <a:xfrm>
            <a:off x="1486080" y="4705560"/>
            <a:ext cx="15845760" cy="507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49000"/>
              </a:lnSpc>
              <a:tabLst>
                <a:tab pos="0" algn="l"/>
              </a:tabLst>
            </a:pPr>
            <a:r>
              <a:rPr lang="en-US" sz="2170" b="0" u="none" strike="noStrike">
                <a:solidFill>
                  <a:srgbClr val="2A4B9A"/>
                </a:solidFill>
                <a:effectLst/>
                <a:uFillTx/>
                <a:latin typeface="Courier New"/>
                <a:ea typeface="Courier New"/>
              </a:rPr>
              <a:t>    }</a:t>
            </a:r>
            <a:endParaRPr lang="de-DE" sz="2170" b="0" u="none" strike="noStrike">
              <a:solidFill>
                <a:srgbClr val="000000"/>
              </a:solidFill>
              <a:effectLst/>
              <a:uFillTx/>
              <a:latin typeface="Arial"/>
            </a:endParaRPr>
          </a:p>
        </p:txBody>
      </p:sp>
      <p:sp>
        <p:nvSpPr>
          <p:cNvPr id="69" name="Shape 14"/>
          <p:cNvSpPr/>
          <p:nvPr/>
        </p:nvSpPr>
        <p:spPr>
          <a:xfrm>
            <a:off x="1104840" y="5175360"/>
            <a:ext cx="37800" cy="469080"/>
          </a:xfrm>
          <a:prstGeom prst="rect">
            <a:avLst/>
          </a:prstGeom>
          <a:solidFill>
            <a:srgbClr val="2A4B9A"/>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70" name="Text 15"/>
          <p:cNvSpPr/>
          <p:nvPr/>
        </p:nvSpPr>
        <p:spPr>
          <a:xfrm>
            <a:off x="1486080" y="5175360"/>
            <a:ext cx="15845760" cy="507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49000"/>
              </a:lnSpc>
              <a:tabLst>
                <a:tab pos="0" algn="l"/>
              </a:tabLst>
            </a:pPr>
            <a:r>
              <a:rPr lang="en-US" sz="2170" b="0" u="none" strike="noStrike">
                <a:solidFill>
                  <a:srgbClr val="2A4B9A"/>
                </a:solidFill>
                <a:effectLst/>
                <a:uFillTx/>
                <a:latin typeface="Courier New"/>
                <a:ea typeface="Courier New"/>
              </a:rPr>
              <a:t>}</a:t>
            </a:r>
            <a:endParaRPr lang="de-DE" sz="2170" b="0" u="none" strike="noStrike">
              <a:solidFill>
                <a:srgbClr val="000000"/>
              </a:solidFill>
              <a:effectLst/>
              <a:uFillTx/>
              <a:latin typeface="Arial"/>
            </a:endParaRPr>
          </a:p>
        </p:txBody>
      </p:sp>
      <p:sp>
        <p:nvSpPr>
          <p:cNvPr id="71" name="Text 16"/>
          <p:cNvSpPr/>
          <p:nvPr/>
        </p:nvSpPr>
        <p:spPr>
          <a:xfrm>
            <a:off x="1152360" y="6292440"/>
            <a:ext cx="16163640" cy="990360"/>
          </a:xfrm>
          <a:prstGeom prst="rect">
            <a:avLst/>
          </a:prstGeom>
          <a:noFill/>
          <a:ln w="0">
            <a:noFill/>
          </a:ln>
        </p:spPr>
        <p:style>
          <a:lnRef idx="0"/>
          <a:fillRef idx="0"/>
          <a:effectRef idx="0"/>
          <a:fontRef idx="minor"/>
        </p:style>
        <p:txBody>
          <a:bodyPr lIns="25560" tIns="25560" rIns="25560" bIns="25560" anchor="t">
            <a:normAutofit/>
          </a:bodyPr>
          <a:p>
            <a:pPr marL="200160" indent="-200160" defTabSz="914400">
              <a:lnSpc>
                <a:spcPct val="123000"/>
              </a:lnSpc>
              <a:buClr>
                <a:srgbClr val="000000"/>
              </a:buClr>
              <a:buFont typeface="Symbol" charset="2"/>
              <a:buChar char=""/>
              <a:tabLst>
                <a:tab pos="200160" algn="l"/>
              </a:tabLst>
            </a:pPr>
            <a:r>
              <a:rPr lang="en-US" sz="2250" b="0" u="none" strike="noStrike">
                <a:solidFill>
                  <a:srgbClr val="000000"/>
                </a:solidFill>
                <a:effectLst/>
                <a:uFillTx/>
                <a:latin typeface="Arial"/>
                <a:ea typeface="Arial"/>
              </a:rPr>
              <a:t>Jedes Work-Item durchläuft die Schleife, trifft aber genau einen Zweig</a:t>
            </a:r>
            <a:endParaRPr lang="de-DE" sz="2250" b="0" u="none" strike="noStrike">
              <a:solidFill>
                <a:srgbClr val="000000"/>
              </a:solidFill>
              <a:effectLst/>
              <a:uFillTx/>
              <a:latin typeface="Arial"/>
            </a:endParaRPr>
          </a:p>
          <a:p>
            <a:pPr marL="200160" indent="-200160" defTabSz="914400">
              <a:lnSpc>
                <a:spcPct val="123000"/>
              </a:lnSpc>
              <a:buClr>
                <a:srgbClr val="000000"/>
              </a:buClr>
              <a:buFont typeface="Symbol" charset="2"/>
              <a:buChar char=""/>
              <a:tabLst>
                <a:tab pos="200160" algn="l"/>
              </a:tabLst>
            </a:pPr>
            <a:r>
              <a:rPr lang="en-US" sz="2250" b="0" u="none" strike="noStrike">
                <a:solidFill>
                  <a:srgbClr val="000000"/>
                </a:solidFill>
                <a:effectLst/>
                <a:uFillTx/>
                <a:latin typeface="Arial"/>
                <a:ea typeface="Arial"/>
              </a:rPr>
              <a:t>FLOP-Zahl je Work-Item bleibt konstant, unabhängig von DEGREE</a:t>
            </a:r>
            <a:endParaRPr lang="de-DE" sz="2250" b="0" u="none" strike="noStrike">
              <a:solidFill>
                <a:srgbClr val="000000"/>
              </a:solidFill>
              <a:effectLst/>
              <a:uFillTx/>
              <a:latin typeface="Arial"/>
            </a:endParaRPr>
          </a:p>
        </p:txBody>
      </p:sp>
      <p:sp>
        <p:nvSpPr>
          <p:cNvPr id="72" name="Text 17"/>
          <p:cNvSpPr/>
          <p:nvPr/>
        </p:nvSpPr>
        <p:spPr>
          <a:xfrm>
            <a:off x="1047600" y="9086760"/>
            <a:ext cx="195840" cy="323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500" b="0" u="none" strike="noStrike">
                <a:solidFill>
                  <a:srgbClr val="9CA3AF"/>
                </a:solidFill>
                <a:effectLst/>
                <a:uFillTx/>
                <a:latin typeface="Arial"/>
                <a:ea typeface="Arial"/>
              </a:rPr>
              <a:t>4</a:t>
            </a:r>
            <a:endParaRPr lang="de-DE"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Text 0"/>
          <p:cNvSpPr/>
          <p:nvPr/>
        </p:nvSpPr>
        <p:spPr>
          <a:xfrm>
            <a:off x="1047600" y="762120"/>
            <a:ext cx="17811360" cy="352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pc="264" strike="noStrike">
                <a:solidFill>
                  <a:srgbClr val="9CA3AF"/>
                </a:solidFill>
                <a:effectLst/>
                <a:uFillTx/>
                <a:latin typeface="Arial"/>
                <a:ea typeface="Arial"/>
              </a:rPr>
              <a:t>AUFGABE 1</a:t>
            </a:r>
            <a:endParaRPr lang="de-DE" sz="1650" b="0" u="none" strike="noStrike">
              <a:solidFill>
                <a:srgbClr val="000000"/>
              </a:solidFill>
              <a:effectLst/>
              <a:uFillTx/>
              <a:latin typeface="Arial"/>
            </a:endParaRPr>
          </a:p>
        </p:txBody>
      </p:sp>
      <p:sp>
        <p:nvSpPr>
          <p:cNvPr id="74" name="Text 1"/>
          <p:cNvSpPr/>
          <p:nvPr/>
        </p:nvSpPr>
        <p:spPr>
          <a:xfrm>
            <a:off x="1047600" y="1190520"/>
            <a:ext cx="17811360" cy="5284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5000"/>
              </a:lnSpc>
              <a:tabLst>
                <a:tab pos="0" algn="l"/>
              </a:tabLst>
            </a:pPr>
            <a:r>
              <a:rPr lang="en-US" sz="3450" b="1" u="none" spc="-34" strike="noStrike">
                <a:solidFill>
                  <a:srgbClr val="000000"/>
                </a:solidFill>
                <a:effectLst/>
                <a:uFillTx/>
                <a:latin typeface="Arial"/>
                <a:ea typeface="Arial"/>
              </a:rPr>
              <a:t>Schritt 2: Bei gesättigter GPU kostet Divergenz Faktor 56,1</a:t>
            </a:r>
            <a:endParaRPr lang="de-DE" sz="3450" b="0" u="none" strike="noStrike">
              <a:solidFill>
                <a:srgbClr val="000000"/>
              </a:solidFill>
              <a:effectLst/>
              <a:uFillTx/>
              <a:latin typeface="Arial"/>
            </a:endParaRPr>
          </a:p>
        </p:txBody>
      </p:sp>
      <p:sp>
        <p:nvSpPr>
          <p:cNvPr id="75" name="Shape 2"/>
          <p:cNvSpPr/>
          <p:nvPr/>
        </p:nvSpPr>
        <p:spPr>
          <a:xfrm>
            <a:off x="1047600" y="181476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76" name="Shape 3"/>
          <p:cNvSpPr/>
          <p:nvPr/>
        </p:nvSpPr>
        <p:spPr>
          <a:xfrm>
            <a:off x="1047600" y="2176560"/>
            <a:ext cx="9471600" cy="6222240"/>
          </a:xfrm>
          <a:prstGeom prst="rect">
            <a:avLst/>
          </a:prstGeom>
          <a:noFill/>
          <a:ln w="9525">
            <a:solidFill>
              <a:srgbClr val="D1D5D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7" name="Shape 4"/>
          <p:cNvSpPr/>
          <p:nvPr/>
        </p:nvSpPr>
        <p:spPr>
          <a:xfrm>
            <a:off x="1057320" y="2186280"/>
            <a:ext cx="9452520" cy="6203160"/>
          </a:xfrm>
          <a:prstGeom prst="rect">
            <a:avLst/>
          </a:prstGeom>
          <a:solidFill>
            <a:srgbClr val="000000">
              <a:alpha val="4000"/>
            </a:srgbClr>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pic>
        <p:nvPicPr>
          <p:cNvPr id="78" name="Image 0" descr="preencoded.png"/>
          <p:cNvPicPr/>
          <p:nvPr/>
        </p:nvPicPr>
        <p:blipFill>
          <a:blip r:embed="rId1"/>
          <a:srcRect l="0" t="781" r="0" b="781"/>
          <a:stretch/>
        </p:blipFill>
        <p:spPr>
          <a:xfrm>
            <a:off x="1057320" y="2186280"/>
            <a:ext cx="9452520" cy="6203160"/>
          </a:xfrm>
          <a:prstGeom prst="rect">
            <a:avLst/>
          </a:prstGeom>
          <a:noFill/>
          <a:ln w="0">
            <a:noFill/>
          </a:ln>
        </p:spPr>
      </p:pic>
      <p:sp>
        <p:nvSpPr>
          <p:cNvPr id="79" name="Text 5"/>
          <p:cNvSpPr/>
          <p:nvPr/>
        </p:nvSpPr>
        <p:spPr>
          <a:xfrm>
            <a:off x="1047600" y="8551800"/>
            <a:ext cx="10418760" cy="3441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19000"/>
              </a:lnSpc>
              <a:tabLst>
                <a:tab pos="0" algn="l"/>
              </a:tabLst>
            </a:pPr>
            <a:r>
              <a:rPr lang="en-US" sz="1729" b="0" u="none" strike="noStrike">
                <a:solidFill>
                  <a:srgbClr val="374151"/>
                </a:solidFill>
                <a:effectLst/>
                <a:uFillTx/>
                <a:latin typeface="Arial"/>
                <a:ea typeface="Arial"/>
              </a:rPr>
              <a:t>Abbildung 2: Durchsatz über dem Divergenzgrad, also der Zahl der Pfade je Warp.</a:t>
            </a:r>
            <a:endParaRPr lang="de-DE" sz="1729" b="0" u="none" strike="noStrike">
              <a:solidFill>
                <a:srgbClr val="000000"/>
              </a:solidFill>
              <a:effectLst/>
              <a:uFillTx/>
              <a:latin typeface="Arial"/>
            </a:endParaRPr>
          </a:p>
        </p:txBody>
      </p:sp>
      <p:sp>
        <p:nvSpPr>
          <p:cNvPr id="80" name="Text 6"/>
          <p:cNvSpPr/>
          <p:nvPr/>
        </p:nvSpPr>
        <p:spPr>
          <a:xfrm>
            <a:off x="11214000" y="4408920"/>
            <a:ext cx="6606360" cy="4777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21000"/>
              </a:lnSpc>
              <a:tabLst>
                <a:tab pos="0" algn="l"/>
              </a:tabLst>
            </a:pPr>
            <a:r>
              <a:rPr lang="en-US" sz="2470" b="0" u="none" strike="noStrike">
                <a:solidFill>
                  <a:srgbClr val="000000"/>
                </a:solidFill>
                <a:effectLst/>
                <a:uFillTx/>
                <a:latin typeface="Arial"/>
                <a:ea typeface="Arial"/>
              </a:rPr>
              <a:t>Grad 1: </a:t>
            </a:r>
            <a:r>
              <a:rPr lang="en-US" sz="2470" b="1" u="none" strike="noStrike">
                <a:solidFill>
                  <a:srgbClr val="2A4B9A"/>
                </a:solidFill>
                <a:effectLst/>
                <a:uFillTx/>
                <a:latin typeface="Arial"/>
                <a:ea typeface="Arial"/>
              </a:rPr>
              <a:t>3088,2 GFLOP/s</a:t>
            </a:r>
            <a:endParaRPr lang="de-DE" sz="2470" b="0" u="none" strike="noStrike">
              <a:solidFill>
                <a:srgbClr val="000000"/>
              </a:solidFill>
              <a:effectLst/>
              <a:uFillTx/>
              <a:latin typeface="Arial"/>
            </a:endParaRPr>
          </a:p>
        </p:txBody>
      </p:sp>
      <p:sp>
        <p:nvSpPr>
          <p:cNvPr id="81" name="Text 7"/>
          <p:cNvSpPr/>
          <p:nvPr/>
        </p:nvSpPr>
        <p:spPr>
          <a:xfrm>
            <a:off x="11214000" y="5001120"/>
            <a:ext cx="6606360" cy="4777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21000"/>
              </a:lnSpc>
              <a:tabLst>
                <a:tab pos="0" algn="l"/>
              </a:tabLst>
            </a:pPr>
            <a:r>
              <a:rPr lang="en-US" sz="2470" b="0" u="none" strike="noStrike">
                <a:solidFill>
                  <a:srgbClr val="000000"/>
                </a:solidFill>
                <a:effectLst/>
                <a:uFillTx/>
                <a:latin typeface="Arial"/>
                <a:ea typeface="Arial"/>
              </a:rPr>
              <a:t>Grad 64: </a:t>
            </a:r>
            <a:r>
              <a:rPr lang="en-US" sz="2470" b="1" u="none" strike="noStrike">
                <a:solidFill>
                  <a:srgbClr val="2A4B9A"/>
                </a:solidFill>
                <a:effectLst/>
                <a:uFillTx/>
                <a:latin typeface="Arial"/>
                <a:ea typeface="Arial"/>
              </a:rPr>
              <a:t>55,1 GFLOP/s</a:t>
            </a:r>
            <a:endParaRPr lang="de-DE" sz="2470" b="0" u="none" strike="noStrike">
              <a:solidFill>
                <a:srgbClr val="000000"/>
              </a:solidFill>
              <a:effectLst/>
              <a:uFillTx/>
              <a:latin typeface="Arial"/>
            </a:endParaRPr>
          </a:p>
        </p:txBody>
      </p:sp>
      <p:sp>
        <p:nvSpPr>
          <p:cNvPr id="82" name="Text 8"/>
          <p:cNvSpPr/>
          <p:nvPr/>
        </p:nvSpPr>
        <p:spPr>
          <a:xfrm>
            <a:off x="11214000" y="5593680"/>
            <a:ext cx="6199920" cy="917640"/>
          </a:xfrm>
          <a:prstGeom prst="rect">
            <a:avLst/>
          </a:prstGeom>
          <a:noFill/>
          <a:ln w="0">
            <a:noFill/>
          </a:ln>
        </p:spPr>
        <p:style>
          <a:lnRef idx="0"/>
          <a:fillRef idx="0"/>
          <a:effectRef idx="0"/>
          <a:fontRef idx="minor"/>
        </p:style>
        <p:txBody>
          <a:bodyPr lIns="25560" tIns="25560" rIns="25560" bIns="25560" anchor="t">
            <a:normAutofit lnSpcReduction="9999"/>
          </a:bodyPr>
          <a:p>
            <a:pPr marL="219960" indent="-219960" defTabSz="914400">
              <a:lnSpc>
                <a:spcPct val="121000"/>
              </a:lnSpc>
              <a:buClr>
                <a:srgbClr val="000000"/>
              </a:buClr>
              <a:buFont typeface="Symbol" charset="2"/>
              <a:buChar char=""/>
              <a:tabLst>
                <a:tab pos="219960" algn="l"/>
              </a:tabLst>
            </a:pPr>
            <a:r>
              <a:rPr lang="en-US" sz="2470" b="0" u="none" strike="noStrike">
                <a:solidFill>
                  <a:srgbClr val="000000"/>
                </a:solidFill>
                <a:effectLst/>
                <a:uFillTx/>
                <a:latin typeface="Arial"/>
                <a:ea typeface="Arial"/>
              </a:rPr>
              <a:t>Einbruch um Faktor 56,1 bei konstanter FLOP-Zahl.</a:t>
            </a:r>
            <a:endParaRPr lang="de-DE" sz="2470" b="0" u="none" strike="noStrike">
              <a:solidFill>
                <a:srgbClr val="000000"/>
              </a:solidFill>
              <a:effectLst/>
              <a:uFillTx/>
              <a:latin typeface="Arial"/>
            </a:endParaRPr>
          </a:p>
        </p:txBody>
      </p:sp>
      <p:sp>
        <p:nvSpPr>
          <p:cNvPr id="83" name="Text 9"/>
          <p:cNvSpPr/>
          <p:nvPr/>
        </p:nvSpPr>
        <p:spPr>
          <a:xfrm>
            <a:off x="1047600" y="9086760"/>
            <a:ext cx="196920" cy="323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500" b="0" u="none" strike="noStrike">
                <a:solidFill>
                  <a:srgbClr val="9CA3AF"/>
                </a:solidFill>
                <a:effectLst/>
                <a:uFillTx/>
                <a:latin typeface="Arial"/>
                <a:ea typeface="Arial"/>
              </a:rPr>
              <a:t>6</a:t>
            </a:r>
            <a:endParaRPr lang="de-DE"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 name="Text 0"/>
          <p:cNvSpPr/>
          <p:nvPr/>
        </p:nvSpPr>
        <p:spPr>
          <a:xfrm>
            <a:off x="1238400" y="914400"/>
            <a:ext cx="17392320" cy="352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pc="264" strike="noStrike">
                <a:solidFill>
                  <a:srgbClr val="9CA3AF"/>
                </a:solidFill>
                <a:effectLst/>
                <a:uFillTx/>
                <a:latin typeface="Arial"/>
                <a:ea typeface="Arial"/>
              </a:rPr>
              <a:t>AUFGABE 2</a:t>
            </a:r>
            <a:endParaRPr lang="de-DE" sz="1650" b="0" u="none" strike="noStrike">
              <a:solidFill>
                <a:srgbClr val="000000"/>
              </a:solidFill>
              <a:effectLst/>
              <a:uFillTx/>
              <a:latin typeface="Arial"/>
            </a:endParaRPr>
          </a:p>
        </p:txBody>
      </p:sp>
      <p:sp>
        <p:nvSpPr>
          <p:cNvPr id="85" name="Text 1"/>
          <p:cNvSpPr/>
          <p:nvPr/>
        </p:nvSpPr>
        <p:spPr>
          <a:xfrm>
            <a:off x="1238400" y="1362240"/>
            <a:ext cx="16973280" cy="5806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8000"/>
              </a:lnSpc>
              <a:tabLst>
                <a:tab pos="0" algn="l"/>
              </a:tabLst>
            </a:pPr>
            <a:r>
              <a:rPr lang="en-US" sz="3750" b="1" u="none" spc="-37" strike="noStrike">
                <a:solidFill>
                  <a:srgbClr val="000000"/>
                </a:solidFill>
                <a:effectLst/>
                <a:uFillTx/>
                <a:latin typeface="Arial"/>
                <a:ea typeface="Arial"/>
              </a:rPr>
              <a:t>Aufgabe 2: Was kostet unregelmäßiger Speicherzugriff?</a:t>
            </a:r>
            <a:endParaRPr lang="de-DE" sz="3750" b="0" u="none" strike="noStrike">
              <a:solidFill>
                <a:srgbClr val="000000"/>
              </a:solidFill>
              <a:effectLst/>
              <a:uFillTx/>
              <a:latin typeface="Arial"/>
            </a:endParaRPr>
          </a:p>
        </p:txBody>
      </p:sp>
      <p:sp>
        <p:nvSpPr>
          <p:cNvPr id="86" name="Shape 2"/>
          <p:cNvSpPr/>
          <p:nvPr/>
        </p:nvSpPr>
        <p:spPr>
          <a:xfrm>
            <a:off x="1238400" y="2095560"/>
            <a:ext cx="1581120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87" name="Text 3"/>
          <p:cNvSpPr/>
          <p:nvPr/>
        </p:nvSpPr>
        <p:spPr>
          <a:xfrm>
            <a:off x="1323000" y="2610000"/>
            <a:ext cx="15707160" cy="2254680"/>
          </a:xfrm>
          <a:prstGeom prst="rect">
            <a:avLst/>
          </a:prstGeom>
          <a:noFill/>
          <a:ln w="0">
            <a:noFill/>
          </a:ln>
        </p:spPr>
        <p:style>
          <a:lnRef idx="0"/>
          <a:fillRef idx="0"/>
          <a:effectRef idx="0"/>
          <a:fontRef idx="minor"/>
        </p:style>
        <p:txBody>
          <a:bodyPr lIns="25560" tIns="25560" rIns="25560" bIns="25560" anchor="t">
            <a:normAutofit/>
          </a:bodyPr>
          <a:p>
            <a:pPr marL="219960" indent="-219960" defTabSz="914400">
              <a:lnSpc>
                <a:spcPct val="121000"/>
              </a:lnSpc>
              <a:buClr>
                <a:srgbClr val="000000"/>
              </a:buClr>
              <a:buFont typeface="Symbol" charset="2"/>
              <a:buChar char=""/>
              <a:tabLst>
                <a:tab pos="219960" algn="l"/>
              </a:tabLst>
            </a:pPr>
            <a:r>
              <a:rPr lang="en-US" sz="2470" b="0" u="none" strike="noStrike">
                <a:solidFill>
                  <a:srgbClr val="000000"/>
                </a:solidFill>
                <a:effectLst/>
                <a:uFillTx/>
                <a:latin typeface="Arial"/>
                <a:ea typeface="Arial"/>
              </a:rPr>
              <a:t>Speicherintensiver Kernel mit sehr geringer arithmetischer Intensität</a:t>
            </a:r>
            <a:endParaRPr lang="de-DE" sz="2470" b="0" u="none" strike="noStrike">
              <a:solidFill>
                <a:srgbClr val="000000"/>
              </a:solidFill>
              <a:effectLst/>
              <a:uFillTx/>
              <a:latin typeface="Arial"/>
            </a:endParaRPr>
          </a:p>
          <a:p>
            <a:pPr marL="219960" indent="-219960" defTabSz="914400">
              <a:lnSpc>
                <a:spcPct val="121000"/>
              </a:lnSpc>
              <a:buClr>
                <a:srgbClr val="000000"/>
              </a:buClr>
              <a:buFont typeface="Symbol" charset="2"/>
              <a:buChar char=""/>
              <a:tabLst>
                <a:tab pos="219960" algn="l"/>
              </a:tabLst>
            </a:pPr>
            <a:r>
              <a:rPr lang="en-US" sz="2470" b="0" u="none" strike="noStrike">
                <a:solidFill>
                  <a:srgbClr val="000000"/>
                </a:solidFill>
                <a:effectLst/>
                <a:uFillTx/>
                <a:latin typeface="Arial"/>
                <a:ea typeface="Arial"/>
              </a:rPr>
              <a:t>Schritt 1: Wie stark unterscheiden sich coalesced, strided und gather?</a:t>
            </a:r>
            <a:endParaRPr lang="de-DE" sz="2470" b="0" u="none" strike="noStrike">
              <a:solidFill>
                <a:srgbClr val="000000"/>
              </a:solidFill>
              <a:effectLst/>
              <a:uFillTx/>
              <a:latin typeface="Arial"/>
            </a:endParaRPr>
          </a:p>
          <a:p>
            <a:pPr marL="219960" indent="-219960" defTabSz="914400">
              <a:lnSpc>
                <a:spcPct val="121000"/>
              </a:lnSpc>
              <a:buClr>
                <a:srgbClr val="000000"/>
              </a:buClr>
              <a:buFont typeface="Symbol" charset="2"/>
              <a:buChar char=""/>
              <a:tabLst>
                <a:tab pos="219960" algn="l"/>
              </a:tabLst>
            </a:pPr>
            <a:r>
              <a:rPr lang="en-US" sz="2470" b="0" u="none" strike="noStrike">
                <a:solidFill>
                  <a:srgbClr val="000000"/>
                </a:solidFill>
                <a:effectLst/>
                <a:uFillTx/>
                <a:latin typeface="Arial"/>
                <a:ea typeface="Arial"/>
              </a:rPr>
              <a:t>Schritt 2: Wie viel Parallelität braucht das beste Muster?</a:t>
            </a:r>
            <a:endParaRPr lang="de-DE" sz="2470" b="0" u="none" strike="noStrike">
              <a:solidFill>
                <a:srgbClr val="000000"/>
              </a:solidFill>
              <a:effectLst/>
              <a:uFillTx/>
              <a:latin typeface="Arial"/>
            </a:endParaRPr>
          </a:p>
          <a:p>
            <a:pPr marL="219960" indent="-219960" defTabSz="914400">
              <a:lnSpc>
                <a:spcPct val="121000"/>
              </a:lnSpc>
              <a:buClr>
                <a:srgbClr val="000000"/>
              </a:buClr>
              <a:buFont typeface="Symbol" charset="2"/>
              <a:buChar char=""/>
              <a:tabLst>
                <a:tab pos="219960" algn="l"/>
              </a:tabLst>
            </a:pPr>
            <a:r>
              <a:rPr lang="en-US" sz="2470" b="0" u="none" strike="noStrike">
                <a:solidFill>
                  <a:srgbClr val="000000"/>
                </a:solidFill>
                <a:effectLst/>
                <a:uFillTx/>
                <a:latin typeface="Arial"/>
                <a:ea typeface="Arial"/>
              </a:rPr>
              <a:t>Messgröße: effektive Bandbreite in GB/s</a:t>
            </a:r>
            <a:endParaRPr lang="de-DE" sz="2470" b="0" u="none" strike="noStrike">
              <a:solidFill>
                <a:srgbClr val="000000"/>
              </a:solidFill>
              <a:effectLst/>
              <a:uFillTx/>
              <a:latin typeface="Arial"/>
            </a:endParaRPr>
          </a:p>
        </p:txBody>
      </p:sp>
      <p:sp>
        <p:nvSpPr>
          <p:cNvPr id="88" name="Text 4"/>
          <p:cNvSpPr/>
          <p:nvPr/>
        </p:nvSpPr>
        <p:spPr>
          <a:xfrm>
            <a:off x="1238400" y="8953560"/>
            <a:ext cx="196200" cy="323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500" b="0" u="none" strike="noStrike">
                <a:solidFill>
                  <a:srgbClr val="9CA3AF"/>
                </a:solidFill>
                <a:effectLst/>
                <a:uFillTx/>
                <a:latin typeface="Arial"/>
                <a:ea typeface="Arial"/>
              </a:rPr>
              <a:t>8</a:t>
            </a:r>
            <a:endParaRPr lang="de-DE"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9" name="Text 0"/>
          <p:cNvSpPr/>
          <p:nvPr/>
        </p:nvSpPr>
        <p:spPr>
          <a:xfrm>
            <a:off x="1047600" y="762120"/>
            <a:ext cx="17811360" cy="352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pc="264" strike="noStrike">
                <a:solidFill>
                  <a:srgbClr val="9CA3AF"/>
                </a:solidFill>
                <a:effectLst/>
                <a:uFillTx/>
                <a:latin typeface="Arial"/>
                <a:ea typeface="Arial"/>
              </a:rPr>
              <a:t>AUFGABE 2</a:t>
            </a:r>
            <a:endParaRPr lang="de-DE" sz="1650" b="0" u="none" strike="noStrike">
              <a:solidFill>
                <a:srgbClr val="000000"/>
              </a:solidFill>
              <a:effectLst/>
              <a:uFillTx/>
              <a:latin typeface="Arial"/>
            </a:endParaRPr>
          </a:p>
        </p:txBody>
      </p:sp>
      <p:sp>
        <p:nvSpPr>
          <p:cNvPr id="90" name="Text 1"/>
          <p:cNvSpPr/>
          <p:nvPr/>
        </p:nvSpPr>
        <p:spPr>
          <a:xfrm>
            <a:off x="1047600" y="1190520"/>
            <a:ext cx="17811360" cy="5497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7000"/>
              </a:lnSpc>
              <a:tabLst>
                <a:tab pos="0" algn="l"/>
              </a:tabLst>
            </a:pPr>
            <a:r>
              <a:rPr lang="en-US" sz="3600" b="1" u="none" spc="-37" strike="noStrike">
                <a:solidFill>
                  <a:srgbClr val="000000"/>
                </a:solidFill>
                <a:effectLst/>
                <a:uFillTx/>
                <a:latin typeface="Arial"/>
                <a:ea typeface="Arial"/>
              </a:rPr>
              <a:t>Ein Kernel, drei Muster, gleiche Byte-Menge</a:t>
            </a:r>
            <a:endParaRPr lang="de-DE" sz="3600" b="0" u="none" strike="noStrike">
              <a:solidFill>
                <a:srgbClr val="000000"/>
              </a:solidFill>
              <a:effectLst/>
              <a:uFillTx/>
              <a:latin typeface="Arial"/>
            </a:endParaRPr>
          </a:p>
        </p:txBody>
      </p:sp>
      <p:sp>
        <p:nvSpPr>
          <p:cNvPr id="91" name="Shape 2"/>
          <p:cNvSpPr/>
          <p:nvPr/>
        </p:nvSpPr>
        <p:spPr>
          <a:xfrm>
            <a:off x="1047600" y="189324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92" name="Text 3"/>
          <p:cNvSpPr/>
          <p:nvPr/>
        </p:nvSpPr>
        <p:spPr>
          <a:xfrm>
            <a:off x="1047600" y="2235960"/>
            <a:ext cx="8674920" cy="352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trike="noStrike">
                <a:solidFill>
                  <a:srgbClr val="6B7280"/>
                </a:solidFill>
                <a:effectLst/>
                <a:uFillTx/>
                <a:latin typeface="Arial"/>
                <a:ea typeface="Arial"/>
              </a:rPr>
              <a:t>memory.cl</a:t>
            </a:r>
            <a:endParaRPr lang="de-DE" sz="1650" b="0" u="none" strike="noStrike">
              <a:solidFill>
                <a:srgbClr val="000000"/>
              </a:solidFill>
              <a:effectLst/>
              <a:uFillTx/>
              <a:latin typeface="Arial"/>
            </a:endParaRPr>
          </a:p>
        </p:txBody>
      </p:sp>
      <p:sp>
        <p:nvSpPr>
          <p:cNvPr id="93" name="Shape 4"/>
          <p:cNvSpPr/>
          <p:nvPr/>
        </p:nvSpPr>
        <p:spPr>
          <a:xfrm>
            <a:off x="1047600" y="2664720"/>
            <a:ext cx="7886520" cy="1374840"/>
          </a:xfrm>
          <a:prstGeom prst="rect">
            <a:avLst/>
          </a:prstGeom>
          <a:solidFill>
            <a:srgbClr val="F3F4F6"/>
          </a:solidFill>
          <a:ln w="0">
            <a:noFill/>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94" name="Shape 5"/>
          <p:cNvSpPr/>
          <p:nvPr/>
        </p:nvSpPr>
        <p:spPr>
          <a:xfrm>
            <a:off x="1047600" y="2664720"/>
            <a:ext cx="56880" cy="1374840"/>
          </a:xfrm>
          <a:prstGeom prst="rect">
            <a:avLst/>
          </a:prstGeom>
          <a:solidFill>
            <a:srgbClr val="2A4B9A"/>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95" name="Text 6"/>
          <p:cNvSpPr/>
          <p:nvPr/>
        </p:nvSpPr>
        <p:spPr>
          <a:xfrm>
            <a:off x="1409760" y="2931480"/>
            <a:ext cx="7436160" cy="4586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47000"/>
              </a:lnSpc>
              <a:tabLst>
                <a:tab pos="0" algn="l"/>
              </a:tabLst>
            </a:pPr>
            <a:r>
              <a:rPr lang="en-US" sz="1950" b="0" u="none" strike="noStrike">
                <a:solidFill>
                  <a:srgbClr val="2A4B9A"/>
                </a:solidFill>
                <a:effectLst/>
                <a:uFillTx/>
                <a:latin typeface="Courier New"/>
                <a:ea typeface="Courier New"/>
              </a:rPr>
              <a:t>b[i] = a[idx[i]] * c;</a:t>
            </a:r>
            <a:endParaRPr lang="de-DE" sz="1950" b="0" u="none" strike="noStrike">
              <a:solidFill>
                <a:srgbClr val="000000"/>
              </a:solidFill>
              <a:effectLst/>
              <a:uFillTx/>
              <a:latin typeface="Arial"/>
            </a:endParaRPr>
          </a:p>
        </p:txBody>
      </p:sp>
      <p:sp>
        <p:nvSpPr>
          <p:cNvPr id="96" name="Text 7"/>
          <p:cNvSpPr/>
          <p:nvPr/>
        </p:nvSpPr>
        <p:spPr>
          <a:xfrm>
            <a:off x="1409760" y="3352320"/>
            <a:ext cx="7436160" cy="4586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47000"/>
              </a:lnSpc>
              <a:tabLst>
                <a:tab pos="0" algn="l"/>
              </a:tabLst>
            </a:pPr>
            <a:r>
              <a:rPr lang="en-US" sz="1950" b="0" u="none" strike="noStrike">
                <a:solidFill>
                  <a:srgbClr val="6B7280"/>
                </a:solidFill>
                <a:effectLst/>
                <a:uFillTx/>
                <a:latin typeface="Courier New"/>
                <a:ea typeface="Courier New"/>
              </a:rPr>
              <a:t>// Muster steckt allein in idx</a:t>
            </a:r>
            <a:endParaRPr lang="de-DE" sz="1950" b="0" u="none" strike="noStrike">
              <a:solidFill>
                <a:srgbClr val="000000"/>
              </a:solidFill>
              <a:effectLst/>
              <a:uFillTx/>
              <a:latin typeface="Arial"/>
            </a:endParaRPr>
          </a:p>
        </p:txBody>
      </p:sp>
      <p:sp>
        <p:nvSpPr>
          <p:cNvPr id="97" name="Text 8"/>
          <p:cNvSpPr/>
          <p:nvPr/>
        </p:nvSpPr>
        <p:spPr>
          <a:xfrm>
            <a:off x="9353520" y="2235960"/>
            <a:ext cx="8674920" cy="352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trike="noStrike">
                <a:solidFill>
                  <a:srgbClr val="6B7280"/>
                </a:solidFill>
                <a:effectLst/>
                <a:uFillTx/>
                <a:latin typeface="Arial"/>
                <a:ea typeface="Arial"/>
              </a:rPr>
              <a:t>bench_memory.py</a:t>
            </a:r>
            <a:endParaRPr lang="de-DE" sz="1650" b="0" u="none" strike="noStrike">
              <a:solidFill>
                <a:srgbClr val="000000"/>
              </a:solidFill>
              <a:effectLst/>
              <a:uFillTx/>
              <a:latin typeface="Arial"/>
            </a:endParaRPr>
          </a:p>
        </p:txBody>
      </p:sp>
      <p:sp>
        <p:nvSpPr>
          <p:cNvPr id="98" name="Shape 9"/>
          <p:cNvSpPr/>
          <p:nvPr/>
        </p:nvSpPr>
        <p:spPr>
          <a:xfrm>
            <a:off x="9353520" y="2664720"/>
            <a:ext cx="7886520" cy="2087280"/>
          </a:xfrm>
          <a:prstGeom prst="rect">
            <a:avLst/>
          </a:prstGeom>
          <a:solidFill>
            <a:srgbClr val="F3F4F6"/>
          </a:solidFill>
          <a:ln w="0">
            <a:noFill/>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99" name="Shape 10"/>
          <p:cNvSpPr/>
          <p:nvPr/>
        </p:nvSpPr>
        <p:spPr>
          <a:xfrm>
            <a:off x="9353520" y="2664720"/>
            <a:ext cx="56880" cy="2087280"/>
          </a:xfrm>
          <a:prstGeom prst="rect">
            <a:avLst/>
          </a:prstGeom>
          <a:solidFill>
            <a:srgbClr val="D1D5DB"/>
          </a:solidFill>
          <a:ln w="0">
            <a:noFill/>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00" name="Text 11"/>
          <p:cNvSpPr/>
          <p:nvPr/>
        </p:nvSpPr>
        <p:spPr>
          <a:xfrm>
            <a:off x="9715680" y="2931480"/>
            <a:ext cx="7436160" cy="426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51000"/>
              </a:lnSpc>
              <a:tabLst>
                <a:tab pos="0" algn="l"/>
              </a:tabLst>
            </a:pPr>
            <a:r>
              <a:rPr lang="en-US" sz="1800" b="0" u="none" strike="noStrike">
                <a:solidFill>
                  <a:srgbClr val="111827"/>
                </a:solidFill>
                <a:effectLst/>
                <a:uFillTx/>
                <a:latin typeface="Courier New"/>
                <a:ea typeface="Courier New"/>
              </a:rPr>
              <a:t>coalesced: arange(n)</a:t>
            </a:r>
            <a:endParaRPr lang="de-DE" sz="1800" b="0" u="none" strike="noStrike">
              <a:solidFill>
                <a:srgbClr val="000000"/>
              </a:solidFill>
              <a:effectLst/>
              <a:uFillTx/>
              <a:latin typeface="Arial"/>
            </a:endParaRPr>
          </a:p>
        </p:txBody>
      </p:sp>
      <p:sp>
        <p:nvSpPr>
          <p:cNvPr id="101" name="Text 12"/>
          <p:cNvSpPr/>
          <p:nvPr/>
        </p:nvSpPr>
        <p:spPr>
          <a:xfrm>
            <a:off x="9715680" y="3319920"/>
            <a:ext cx="7436160" cy="426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51000"/>
              </a:lnSpc>
              <a:tabLst>
                <a:tab pos="0" algn="l"/>
              </a:tabLst>
            </a:pPr>
            <a:r>
              <a:rPr lang="en-US" sz="1800" b="0" u="none" strike="noStrike">
                <a:solidFill>
                  <a:srgbClr val="111827"/>
                </a:solidFill>
                <a:effectLst/>
                <a:uFillTx/>
                <a:latin typeface="Courier New"/>
                <a:ea typeface="Courier New"/>
              </a:rPr>
              <a:t>strided:   (arange(n) * 521) % n</a:t>
            </a:r>
            <a:endParaRPr lang="de-DE" sz="1800" b="0" u="none" strike="noStrike">
              <a:solidFill>
                <a:srgbClr val="000000"/>
              </a:solidFill>
              <a:effectLst/>
              <a:uFillTx/>
              <a:latin typeface="Arial"/>
            </a:endParaRPr>
          </a:p>
        </p:txBody>
      </p:sp>
      <p:sp>
        <p:nvSpPr>
          <p:cNvPr id="102" name="Text 13"/>
          <p:cNvSpPr/>
          <p:nvPr/>
        </p:nvSpPr>
        <p:spPr>
          <a:xfrm>
            <a:off x="11224440" y="3708360"/>
            <a:ext cx="5927400" cy="426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51000"/>
              </a:lnSpc>
              <a:tabLst>
                <a:tab pos="0" algn="l"/>
              </a:tabLst>
            </a:pPr>
            <a:r>
              <a:rPr lang="en-US" sz="1800" b="0" u="none" strike="noStrike">
                <a:solidFill>
                  <a:srgbClr val="6B7280"/>
                </a:solidFill>
                <a:effectLst/>
                <a:uFillTx/>
                <a:latin typeface="Courier New"/>
                <a:ea typeface="Courier New"/>
              </a:rPr>
              <a:t># 521 prim, teilerfremd zu n</a:t>
            </a:r>
            <a:endParaRPr lang="de-DE" sz="1800" b="0" u="none" strike="noStrike">
              <a:solidFill>
                <a:srgbClr val="000000"/>
              </a:solidFill>
              <a:effectLst/>
              <a:uFillTx/>
              <a:latin typeface="Arial"/>
            </a:endParaRPr>
          </a:p>
        </p:txBody>
      </p:sp>
      <p:sp>
        <p:nvSpPr>
          <p:cNvPr id="103" name="Text 14"/>
          <p:cNvSpPr/>
          <p:nvPr/>
        </p:nvSpPr>
        <p:spPr>
          <a:xfrm>
            <a:off x="9715680" y="4097160"/>
            <a:ext cx="7436160" cy="4262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51000"/>
              </a:lnSpc>
              <a:tabLst>
                <a:tab pos="0" algn="l"/>
              </a:tabLst>
            </a:pPr>
            <a:r>
              <a:rPr lang="en-US" sz="1800" b="0" u="none" strike="noStrike">
                <a:solidFill>
                  <a:srgbClr val="111827"/>
                </a:solidFill>
                <a:effectLst/>
                <a:uFillTx/>
                <a:latin typeface="Courier New"/>
                <a:ea typeface="Courier New"/>
              </a:rPr>
              <a:t>gather:    default_rng(SEED).permutation(n)</a:t>
            </a:r>
            <a:endParaRPr lang="de-DE" sz="1800" b="0" u="none" strike="noStrike">
              <a:solidFill>
                <a:srgbClr val="000000"/>
              </a:solidFill>
              <a:effectLst/>
              <a:uFillTx/>
              <a:latin typeface="Arial"/>
            </a:endParaRPr>
          </a:p>
        </p:txBody>
      </p:sp>
      <p:sp>
        <p:nvSpPr>
          <p:cNvPr id="104" name="Text 15"/>
          <p:cNvSpPr/>
          <p:nvPr/>
        </p:nvSpPr>
        <p:spPr>
          <a:xfrm>
            <a:off x="1238400" y="5533560"/>
            <a:ext cx="3103920" cy="36144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650" b="1" u="none" strike="noStrike">
                <a:solidFill>
                  <a:srgbClr val="6B7280"/>
                </a:solidFill>
                <a:effectLst/>
                <a:uFillTx/>
                <a:latin typeface="Arial"/>
                <a:ea typeface="Arial"/>
              </a:rPr>
              <a:t>Muster</a:t>
            </a:r>
            <a:endParaRPr lang="de-DE" sz="1650" b="0" u="none" strike="noStrike">
              <a:solidFill>
                <a:srgbClr val="000000"/>
              </a:solidFill>
              <a:effectLst/>
              <a:uFillTx/>
              <a:latin typeface="Arial"/>
            </a:endParaRPr>
          </a:p>
        </p:txBody>
      </p:sp>
      <p:sp>
        <p:nvSpPr>
          <p:cNvPr id="105" name="Text 16"/>
          <p:cNvSpPr/>
          <p:nvPr/>
        </p:nvSpPr>
        <p:spPr>
          <a:xfrm>
            <a:off x="4621680" y="5533560"/>
            <a:ext cx="4989240" cy="36144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650" b="1" u="none" strike="noStrike">
                <a:solidFill>
                  <a:srgbClr val="6B7280"/>
                </a:solidFill>
                <a:effectLst/>
                <a:uFillTx/>
                <a:latin typeface="Arial"/>
                <a:ea typeface="Arial"/>
              </a:rPr>
              <a:t>Inhalt von </a:t>
            </a:r>
            <a:r>
              <a:rPr lang="en-US" sz="1520" b="1" u="none" strike="noStrike">
                <a:solidFill>
                  <a:srgbClr val="6B7280"/>
                </a:solidFill>
                <a:effectLst/>
                <a:uFillTx/>
                <a:latin typeface="Courier New"/>
                <a:ea typeface="Courier New"/>
              </a:rPr>
              <a:t>idx</a:t>
            </a:r>
            <a:endParaRPr lang="de-DE" sz="1520" b="0" u="none" strike="noStrike">
              <a:solidFill>
                <a:srgbClr val="000000"/>
              </a:solidFill>
              <a:effectLst/>
              <a:uFillTx/>
              <a:latin typeface="Arial"/>
            </a:endParaRPr>
          </a:p>
        </p:txBody>
      </p:sp>
      <p:sp>
        <p:nvSpPr>
          <p:cNvPr id="106" name="Text 17"/>
          <p:cNvSpPr/>
          <p:nvPr/>
        </p:nvSpPr>
        <p:spPr>
          <a:xfrm>
            <a:off x="9836280" y="5533560"/>
            <a:ext cx="7441200" cy="36144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650" b="1" u="none" strike="noStrike">
                <a:solidFill>
                  <a:srgbClr val="6B7280"/>
                </a:solidFill>
                <a:effectLst/>
                <a:uFillTx/>
                <a:latin typeface="Arial"/>
                <a:ea typeface="Arial"/>
              </a:rPr>
              <a:t>Was passiert</a:t>
            </a:r>
            <a:endParaRPr lang="de-DE" sz="1650" b="0" u="none" strike="noStrike">
              <a:solidFill>
                <a:srgbClr val="000000"/>
              </a:solidFill>
              <a:effectLst/>
              <a:uFillTx/>
              <a:latin typeface="Arial"/>
            </a:endParaRPr>
          </a:p>
        </p:txBody>
      </p:sp>
      <p:sp>
        <p:nvSpPr>
          <p:cNvPr id="107" name="Shape 18"/>
          <p:cNvSpPr/>
          <p:nvPr/>
        </p:nvSpPr>
        <p:spPr>
          <a:xfrm>
            <a:off x="1047600" y="597168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108" name="Text 19"/>
          <p:cNvSpPr/>
          <p:nvPr/>
        </p:nvSpPr>
        <p:spPr>
          <a:xfrm>
            <a:off x="1238400" y="6104880"/>
            <a:ext cx="3103920" cy="39024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1" u="none" strike="noStrike">
                <a:solidFill>
                  <a:srgbClr val="000000"/>
                </a:solidFill>
                <a:effectLst/>
                <a:uFillTx/>
                <a:latin typeface="Arial"/>
                <a:ea typeface="Arial"/>
              </a:rPr>
              <a:t>coalesced</a:t>
            </a:r>
            <a:endParaRPr lang="de-DE" sz="1800" b="0" u="none" strike="noStrike">
              <a:solidFill>
                <a:srgbClr val="000000"/>
              </a:solidFill>
              <a:effectLst/>
              <a:uFillTx/>
              <a:latin typeface="Arial"/>
            </a:endParaRPr>
          </a:p>
        </p:txBody>
      </p:sp>
      <p:sp>
        <p:nvSpPr>
          <p:cNvPr id="109" name="Text 20"/>
          <p:cNvSpPr/>
          <p:nvPr/>
        </p:nvSpPr>
        <p:spPr>
          <a:xfrm>
            <a:off x="4621680" y="6104880"/>
            <a:ext cx="4989240" cy="39024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2A4B9A"/>
                </a:solidFill>
                <a:effectLst/>
                <a:uFillTx/>
                <a:latin typeface="Courier New"/>
                <a:ea typeface="Courier New"/>
              </a:rPr>
              <a:t>0 1 2 3 4 5 6 7</a:t>
            </a:r>
            <a:endParaRPr lang="de-DE" sz="1800" b="0" u="none" strike="noStrike">
              <a:solidFill>
                <a:srgbClr val="000000"/>
              </a:solidFill>
              <a:effectLst/>
              <a:uFillTx/>
              <a:latin typeface="Arial"/>
            </a:endParaRPr>
          </a:p>
        </p:txBody>
      </p:sp>
      <p:sp>
        <p:nvSpPr>
          <p:cNvPr id="110" name="Text 21"/>
          <p:cNvSpPr/>
          <p:nvPr/>
        </p:nvSpPr>
        <p:spPr>
          <a:xfrm>
            <a:off x="9836280" y="6104880"/>
            <a:ext cx="7441200" cy="39024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000000"/>
                </a:solidFill>
                <a:effectLst/>
                <a:uFillTx/>
                <a:latin typeface="Arial"/>
                <a:ea typeface="Arial"/>
              </a:rPr>
              <a:t>Nachbarn lesen Nachbarn</a:t>
            </a:r>
            <a:endParaRPr lang="de-DE" sz="1800" b="0" u="none" strike="noStrike">
              <a:solidFill>
                <a:srgbClr val="000000"/>
              </a:solidFill>
              <a:effectLst/>
              <a:uFillTx/>
              <a:latin typeface="Arial"/>
            </a:endParaRPr>
          </a:p>
        </p:txBody>
      </p:sp>
      <p:sp>
        <p:nvSpPr>
          <p:cNvPr id="111" name="Shape 22"/>
          <p:cNvSpPr/>
          <p:nvPr/>
        </p:nvSpPr>
        <p:spPr>
          <a:xfrm>
            <a:off x="1047600" y="659088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112" name="Text 23"/>
          <p:cNvSpPr/>
          <p:nvPr/>
        </p:nvSpPr>
        <p:spPr>
          <a:xfrm>
            <a:off x="1238400" y="6724080"/>
            <a:ext cx="3103920" cy="39024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1" u="none" strike="noStrike">
                <a:solidFill>
                  <a:srgbClr val="000000"/>
                </a:solidFill>
                <a:effectLst/>
                <a:uFillTx/>
                <a:latin typeface="Arial"/>
                <a:ea typeface="Arial"/>
              </a:rPr>
              <a:t>strided</a:t>
            </a:r>
            <a:endParaRPr lang="de-DE" sz="1800" b="0" u="none" strike="noStrike">
              <a:solidFill>
                <a:srgbClr val="000000"/>
              </a:solidFill>
              <a:effectLst/>
              <a:uFillTx/>
              <a:latin typeface="Arial"/>
            </a:endParaRPr>
          </a:p>
        </p:txBody>
      </p:sp>
      <p:sp>
        <p:nvSpPr>
          <p:cNvPr id="113" name="Text 24"/>
          <p:cNvSpPr/>
          <p:nvPr/>
        </p:nvSpPr>
        <p:spPr>
          <a:xfrm>
            <a:off x="4621680" y="6724080"/>
            <a:ext cx="4989240" cy="39024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2A4B9A"/>
                </a:solidFill>
                <a:effectLst/>
                <a:uFillTx/>
                <a:latin typeface="Courier New"/>
                <a:ea typeface="Courier New"/>
              </a:rPr>
              <a:t>0 3 6 1 4 7 2 5</a:t>
            </a:r>
            <a:endParaRPr lang="de-DE" sz="1800" b="0" u="none" strike="noStrike">
              <a:solidFill>
                <a:srgbClr val="000000"/>
              </a:solidFill>
              <a:effectLst/>
              <a:uFillTx/>
              <a:latin typeface="Arial"/>
            </a:endParaRPr>
          </a:p>
        </p:txBody>
      </p:sp>
      <p:sp>
        <p:nvSpPr>
          <p:cNvPr id="114" name="Text 25"/>
          <p:cNvSpPr/>
          <p:nvPr/>
        </p:nvSpPr>
        <p:spPr>
          <a:xfrm>
            <a:off x="9836280" y="6724080"/>
            <a:ext cx="7441200" cy="39024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000000"/>
                </a:solidFill>
                <a:effectLst/>
                <a:uFillTx/>
                <a:latin typeface="Arial"/>
                <a:ea typeface="Arial"/>
              </a:rPr>
              <a:t>jeder Zugriff springt 3 weiter</a:t>
            </a:r>
            <a:endParaRPr lang="de-DE" sz="1800" b="0" u="none" strike="noStrike">
              <a:solidFill>
                <a:srgbClr val="000000"/>
              </a:solidFill>
              <a:effectLst/>
              <a:uFillTx/>
              <a:latin typeface="Arial"/>
            </a:endParaRPr>
          </a:p>
        </p:txBody>
      </p:sp>
      <p:sp>
        <p:nvSpPr>
          <p:cNvPr id="115" name="Shape 26"/>
          <p:cNvSpPr/>
          <p:nvPr/>
        </p:nvSpPr>
        <p:spPr>
          <a:xfrm>
            <a:off x="1047600" y="780984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116" name="Shape 27"/>
          <p:cNvSpPr/>
          <p:nvPr/>
        </p:nvSpPr>
        <p:spPr>
          <a:xfrm>
            <a:off x="1047600" y="720972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117" name="Text 28"/>
          <p:cNvSpPr/>
          <p:nvPr/>
        </p:nvSpPr>
        <p:spPr>
          <a:xfrm>
            <a:off x="1238400" y="7343280"/>
            <a:ext cx="3103920" cy="39024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1" u="none" strike="noStrike">
                <a:solidFill>
                  <a:srgbClr val="000000"/>
                </a:solidFill>
                <a:effectLst/>
                <a:uFillTx/>
                <a:latin typeface="Arial"/>
                <a:ea typeface="Arial"/>
              </a:rPr>
              <a:t>gather</a:t>
            </a:r>
            <a:endParaRPr lang="de-DE" sz="1800" b="0" u="none" strike="noStrike">
              <a:solidFill>
                <a:srgbClr val="000000"/>
              </a:solidFill>
              <a:effectLst/>
              <a:uFillTx/>
              <a:latin typeface="Arial"/>
            </a:endParaRPr>
          </a:p>
        </p:txBody>
      </p:sp>
      <p:sp>
        <p:nvSpPr>
          <p:cNvPr id="118" name="Text 29"/>
          <p:cNvSpPr/>
          <p:nvPr/>
        </p:nvSpPr>
        <p:spPr>
          <a:xfrm>
            <a:off x="4621680" y="7343280"/>
            <a:ext cx="4989240" cy="39024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2A4B9A"/>
                </a:solidFill>
                <a:effectLst/>
                <a:uFillTx/>
                <a:latin typeface="Courier New"/>
                <a:ea typeface="Courier New"/>
              </a:rPr>
              <a:t>5 2 7 0 3 6 1 4</a:t>
            </a:r>
            <a:endParaRPr lang="de-DE" sz="1800" b="0" u="none" strike="noStrike">
              <a:solidFill>
                <a:srgbClr val="000000"/>
              </a:solidFill>
              <a:effectLst/>
              <a:uFillTx/>
              <a:latin typeface="Arial"/>
            </a:endParaRPr>
          </a:p>
        </p:txBody>
      </p:sp>
      <p:sp>
        <p:nvSpPr>
          <p:cNvPr id="119" name="Text 30"/>
          <p:cNvSpPr/>
          <p:nvPr/>
        </p:nvSpPr>
        <p:spPr>
          <a:xfrm>
            <a:off x="9836280" y="7343280"/>
            <a:ext cx="7441200" cy="39024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000000"/>
                </a:solidFill>
                <a:effectLst/>
                <a:uFillTx/>
                <a:latin typeface="Arial"/>
                <a:ea typeface="Arial"/>
              </a:rPr>
              <a:t>zufällige Reihenfolge</a:t>
            </a:r>
            <a:endParaRPr lang="de-DE" sz="1800" b="0" u="none" strike="noStrike">
              <a:solidFill>
                <a:srgbClr val="000000"/>
              </a:solidFill>
              <a:effectLst/>
              <a:uFillTx/>
              <a:latin typeface="Arial"/>
            </a:endParaRPr>
          </a:p>
        </p:txBody>
      </p:sp>
      <p:sp>
        <p:nvSpPr>
          <p:cNvPr id="120" name="Text 31"/>
          <p:cNvSpPr/>
          <p:nvPr/>
        </p:nvSpPr>
        <p:spPr>
          <a:xfrm>
            <a:off x="1047600" y="9086760"/>
            <a:ext cx="195840" cy="323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500" b="0" u="none" strike="noStrike">
                <a:solidFill>
                  <a:srgbClr val="9CA3AF"/>
                </a:solidFill>
                <a:effectLst/>
                <a:uFillTx/>
                <a:latin typeface="Arial"/>
                <a:ea typeface="Arial"/>
              </a:rPr>
              <a:t>9</a:t>
            </a:r>
            <a:endParaRPr lang="de-DE"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1" name="Text 0"/>
          <p:cNvSpPr/>
          <p:nvPr/>
        </p:nvSpPr>
        <p:spPr>
          <a:xfrm>
            <a:off x="1047600" y="762120"/>
            <a:ext cx="17811360" cy="352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pc="264" strike="noStrike">
                <a:solidFill>
                  <a:srgbClr val="9CA3AF"/>
                </a:solidFill>
                <a:effectLst/>
                <a:uFillTx/>
                <a:latin typeface="Arial"/>
                <a:ea typeface="Arial"/>
              </a:rPr>
              <a:t>AUFGABE 2</a:t>
            </a:r>
            <a:endParaRPr lang="de-DE" sz="1650" b="0" u="none" strike="noStrike">
              <a:solidFill>
                <a:srgbClr val="000000"/>
              </a:solidFill>
              <a:effectLst/>
              <a:uFillTx/>
              <a:latin typeface="Arial"/>
            </a:endParaRPr>
          </a:p>
        </p:txBody>
      </p:sp>
      <p:sp>
        <p:nvSpPr>
          <p:cNvPr id="122" name="Text 1"/>
          <p:cNvSpPr/>
          <p:nvPr/>
        </p:nvSpPr>
        <p:spPr>
          <a:xfrm>
            <a:off x="1047600" y="1190520"/>
            <a:ext cx="17811360" cy="5284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5000"/>
              </a:lnSpc>
              <a:tabLst>
                <a:tab pos="0" algn="l"/>
              </a:tabLst>
            </a:pPr>
            <a:r>
              <a:rPr lang="en-US" sz="3450" b="1" u="none" spc="-34" strike="noStrike">
                <a:solidFill>
                  <a:srgbClr val="000000"/>
                </a:solidFill>
                <a:effectLst/>
                <a:uFillTx/>
                <a:latin typeface="Arial"/>
                <a:ea typeface="Arial"/>
              </a:rPr>
              <a:t>Schritt 1: Coalescing bestimmt die Bandbreite, nicht die Datenmenge</a:t>
            </a:r>
            <a:endParaRPr lang="de-DE" sz="3450" b="0" u="none" strike="noStrike">
              <a:solidFill>
                <a:srgbClr val="000000"/>
              </a:solidFill>
              <a:effectLst/>
              <a:uFillTx/>
              <a:latin typeface="Arial"/>
            </a:endParaRPr>
          </a:p>
        </p:txBody>
      </p:sp>
      <p:sp>
        <p:nvSpPr>
          <p:cNvPr id="123" name="Shape 2"/>
          <p:cNvSpPr/>
          <p:nvPr/>
        </p:nvSpPr>
        <p:spPr>
          <a:xfrm>
            <a:off x="1047600" y="183384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124" name="Shape 3"/>
          <p:cNvSpPr/>
          <p:nvPr/>
        </p:nvSpPr>
        <p:spPr>
          <a:xfrm>
            <a:off x="1047600" y="2195640"/>
            <a:ext cx="9471600" cy="6203160"/>
          </a:xfrm>
          <a:prstGeom prst="rect">
            <a:avLst/>
          </a:prstGeom>
          <a:noFill/>
          <a:ln w="9525">
            <a:solidFill>
              <a:srgbClr val="D1D5D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25" name="Shape 4"/>
          <p:cNvSpPr/>
          <p:nvPr/>
        </p:nvSpPr>
        <p:spPr>
          <a:xfrm>
            <a:off x="1057320" y="2205360"/>
            <a:ext cx="9452520" cy="6184080"/>
          </a:xfrm>
          <a:prstGeom prst="rect">
            <a:avLst/>
          </a:prstGeom>
          <a:solidFill>
            <a:srgbClr val="000000">
              <a:alpha val="4000"/>
            </a:srgbClr>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pic>
        <p:nvPicPr>
          <p:cNvPr id="126" name="Image 0" descr="preencoded.png"/>
          <p:cNvPicPr/>
          <p:nvPr/>
        </p:nvPicPr>
        <p:blipFill>
          <a:blip r:embed="rId1"/>
          <a:srcRect l="0" t="932" r="0" b="932"/>
          <a:stretch/>
        </p:blipFill>
        <p:spPr>
          <a:xfrm>
            <a:off x="1057320" y="2205360"/>
            <a:ext cx="9452520" cy="6184080"/>
          </a:xfrm>
          <a:prstGeom prst="rect">
            <a:avLst/>
          </a:prstGeom>
          <a:noFill/>
          <a:ln w="0">
            <a:noFill/>
          </a:ln>
        </p:spPr>
      </p:pic>
      <p:sp>
        <p:nvSpPr>
          <p:cNvPr id="127" name="Text 5"/>
          <p:cNvSpPr/>
          <p:nvPr/>
        </p:nvSpPr>
        <p:spPr>
          <a:xfrm>
            <a:off x="1047600" y="8551800"/>
            <a:ext cx="10418760" cy="3441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19000"/>
              </a:lnSpc>
              <a:tabLst>
                <a:tab pos="0" algn="l"/>
              </a:tabLst>
            </a:pPr>
            <a:r>
              <a:rPr lang="en-US" sz="1729" b="0" u="none" strike="noStrike">
                <a:solidFill>
                  <a:srgbClr val="374151"/>
                </a:solidFill>
                <a:effectLst/>
                <a:uFillTx/>
                <a:latin typeface="Arial"/>
                <a:ea typeface="Arial"/>
              </a:rPr>
              <a:t>Abbildung 3: Effektive Bandbreite je Zugriffsmuster.</a:t>
            </a:r>
            <a:endParaRPr lang="de-DE" sz="1729" b="0" u="none" strike="noStrike">
              <a:solidFill>
                <a:srgbClr val="000000"/>
              </a:solidFill>
              <a:effectLst/>
              <a:uFillTx/>
              <a:latin typeface="Arial"/>
            </a:endParaRPr>
          </a:p>
        </p:txBody>
      </p:sp>
      <p:sp>
        <p:nvSpPr>
          <p:cNvPr id="128" name="Text 6"/>
          <p:cNvSpPr/>
          <p:nvPr/>
        </p:nvSpPr>
        <p:spPr>
          <a:xfrm>
            <a:off x="11227320" y="4058280"/>
            <a:ext cx="6186600" cy="864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20000"/>
              </a:lnSpc>
              <a:tabLst>
                <a:tab pos="0" algn="l"/>
              </a:tabLst>
            </a:pPr>
            <a:r>
              <a:rPr lang="en-US" sz="2320" b="0" u="none" strike="noStrike">
                <a:solidFill>
                  <a:srgbClr val="000000"/>
                </a:solidFill>
                <a:effectLst/>
                <a:uFillTx/>
                <a:latin typeface="Arial"/>
                <a:ea typeface="Arial"/>
              </a:rPr>
              <a:t>coalesced </a:t>
            </a:r>
            <a:r>
              <a:rPr lang="en-US" sz="2320" b="1" u="none" strike="noStrike">
                <a:solidFill>
                  <a:srgbClr val="2A4B9A"/>
                </a:solidFill>
                <a:effectLst/>
                <a:uFillTx/>
                <a:latin typeface="Arial"/>
                <a:ea typeface="Arial"/>
              </a:rPr>
              <a:t>78,7 GB/s </a:t>
            </a:r>
            <a:r>
              <a:rPr lang="en-US" sz="2320" b="0" u="none" strike="noStrike">
                <a:solidFill>
                  <a:srgbClr val="000000"/>
                </a:solidFill>
                <a:effectLst/>
                <a:uFillTx/>
                <a:latin typeface="Arial"/>
                <a:ea typeface="Arial"/>
              </a:rPr>
              <a:t>, nahe der Kopier-Spitzenbandbreite von 79,4 GB/s</a:t>
            </a:r>
            <a:endParaRPr lang="de-DE" sz="2320" b="0" u="none" strike="noStrike">
              <a:solidFill>
                <a:srgbClr val="000000"/>
              </a:solidFill>
              <a:effectLst/>
              <a:uFillTx/>
              <a:latin typeface="Arial"/>
            </a:endParaRPr>
          </a:p>
        </p:txBody>
      </p:sp>
      <p:sp>
        <p:nvSpPr>
          <p:cNvPr id="129" name="Text 7"/>
          <p:cNvSpPr/>
          <p:nvPr/>
        </p:nvSpPr>
        <p:spPr>
          <a:xfrm>
            <a:off x="11227320" y="5037480"/>
            <a:ext cx="6186600" cy="864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20000"/>
              </a:lnSpc>
              <a:tabLst>
                <a:tab pos="0" algn="l"/>
              </a:tabLst>
            </a:pPr>
            <a:r>
              <a:rPr lang="en-US" sz="2320" b="0" u="none" strike="noStrike">
                <a:solidFill>
                  <a:srgbClr val="000000"/>
                </a:solidFill>
                <a:effectLst/>
                <a:uFillTx/>
                <a:latin typeface="Arial"/>
                <a:ea typeface="Arial"/>
              </a:rPr>
              <a:t>strided </a:t>
            </a:r>
            <a:r>
              <a:rPr lang="en-US" sz="2320" b="1" u="none" strike="noStrike">
                <a:solidFill>
                  <a:srgbClr val="2A4B9A"/>
                </a:solidFill>
                <a:effectLst/>
                <a:uFillTx/>
                <a:latin typeface="Arial"/>
                <a:ea typeface="Arial"/>
              </a:rPr>
              <a:t>6,9 GB/s </a:t>
            </a:r>
            <a:r>
              <a:rPr lang="en-US" sz="2320" b="0" u="none" strike="noStrike">
                <a:solidFill>
                  <a:srgbClr val="000000"/>
                </a:solidFill>
                <a:effectLst/>
                <a:uFillTx/>
                <a:latin typeface="Arial"/>
                <a:ea typeface="Arial"/>
              </a:rPr>
              <a:t>, also Faktor 11,3 langsamer als coalesced</a:t>
            </a:r>
            <a:endParaRPr lang="de-DE" sz="2320" b="0" u="none" strike="noStrike">
              <a:solidFill>
                <a:srgbClr val="000000"/>
              </a:solidFill>
              <a:effectLst/>
              <a:uFillTx/>
              <a:latin typeface="Arial"/>
            </a:endParaRPr>
          </a:p>
        </p:txBody>
      </p:sp>
      <p:sp>
        <p:nvSpPr>
          <p:cNvPr id="130" name="Text 8"/>
          <p:cNvSpPr/>
          <p:nvPr/>
        </p:nvSpPr>
        <p:spPr>
          <a:xfrm>
            <a:off x="11227320" y="6016320"/>
            <a:ext cx="6186600" cy="864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20000"/>
              </a:lnSpc>
              <a:tabLst>
                <a:tab pos="0" algn="l"/>
              </a:tabLst>
            </a:pPr>
            <a:r>
              <a:rPr lang="en-US" sz="2320" b="0" u="none" strike="noStrike">
                <a:solidFill>
                  <a:srgbClr val="000000"/>
                </a:solidFill>
                <a:effectLst/>
                <a:uFillTx/>
                <a:latin typeface="Arial"/>
                <a:ea typeface="Arial"/>
              </a:rPr>
              <a:t>gather </a:t>
            </a:r>
            <a:r>
              <a:rPr lang="en-US" sz="2320" b="1" u="none" strike="noStrike">
                <a:solidFill>
                  <a:srgbClr val="2A4B9A"/>
                </a:solidFill>
                <a:effectLst/>
                <a:uFillTx/>
                <a:latin typeface="Arial"/>
                <a:ea typeface="Arial"/>
              </a:rPr>
              <a:t>6,9 GB/s </a:t>
            </a:r>
            <a:r>
              <a:rPr lang="en-US" sz="2320" b="0" u="none" strike="noStrike">
                <a:solidFill>
                  <a:srgbClr val="000000"/>
                </a:solidFill>
                <a:effectLst/>
                <a:uFillTx/>
                <a:latin typeface="Arial"/>
                <a:ea typeface="Arial"/>
              </a:rPr>
              <a:t>, also Faktor 11,3 langsamer als coalesced</a:t>
            </a:r>
            <a:endParaRPr lang="de-DE" sz="2320" b="0" u="none" strike="noStrike">
              <a:solidFill>
                <a:srgbClr val="000000"/>
              </a:solidFill>
              <a:effectLst/>
              <a:uFillTx/>
              <a:latin typeface="Arial"/>
            </a:endParaRPr>
          </a:p>
        </p:txBody>
      </p:sp>
      <p:sp>
        <p:nvSpPr>
          <p:cNvPr id="131" name="Text 9"/>
          <p:cNvSpPr/>
          <p:nvPr/>
        </p:nvSpPr>
        <p:spPr>
          <a:xfrm>
            <a:off x="1047600" y="9086760"/>
            <a:ext cx="256680" cy="32364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pPr>
            <a:r>
              <a:rPr lang="en-US" sz="1500" b="0" u="none" strike="noStrike">
                <a:solidFill>
                  <a:srgbClr val="9CA3AF"/>
                </a:solidFill>
                <a:effectLst/>
                <a:uFillTx/>
                <a:latin typeface="Arial"/>
                <a:ea typeface="Arial"/>
              </a:rPr>
              <a:t>10</a:t>
            </a:r>
            <a:endParaRPr lang="de-DE"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2" name="Text 0"/>
          <p:cNvSpPr/>
          <p:nvPr/>
        </p:nvSpPr>
        <p:spPr>
          <a:xfrm>
            <a:off x="1047600" y="762120"/>
            <a:ext cx="17811360" cy="352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pc="264" strike="noStrike">
                <a:solidFill>
                  <a:srgbClr val="9CA3AF"/>
                </a:solidFill>
                <a:effectLst/>
                <a:uFillTx/>
                <a:latin typeface="Arial"/>
                <a:ea typeface="Arial"/>
              </a:rPr>
              <a:t>AUFGABE 2</a:t>
            </a:r>
            <a:endParaRPr lang="de-DE" sz="1650" b="0" u="none" strike="noStrike">
              <a:solidFill>
                <a:srgbClr val="000000"/>
              </a:solidFill>
              <a:effectLst/>
              <a:uFillTx/>
              <a:latin typeface="Arial"/>
            </a:endParaRPr>
          </a:p>
        </p:txBody>
      </p:sp>
      <p:sp>
        <p:nvSpPr>
          <p:cNvPr id="133" name="Text 1"/>
          <p:cNvSpPr/>
          <p:nvPr/>
        </p:nvSpPr>
        <p:spPr>
          <a:xfrm>
            <a:off x="1047600" y="1190520"/>
            <a:ext cx="17811360" cy="5068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8000"/>
              </a:lnSpc>
              <a:tabLst>
                <a:tab pos="0" algn="l"/>
              </a:tabLst>
            </a:pPr>
            <a:r>
              <a:rPr lang="en-US" sz="3300" b="1" u="none" spc="-34" strike="noStrike">
                <a:solidFill>
                  <a:srgbClr val="000000"/>
                </a:solidFill>
                <a:effectLst/>
                <a:uFillTx/>
                <a:latin typeface="Arial"/>
                <a:ea typeface="Arial"/>
              </a:rPr>
              <a:t>Schritt 2: Bei coalesced-Zugriff sättigt die Bandbreite ab Warp-Breite</a:t>
            </a:r>
            <a:endParaRPr lang="de-DE" sz="3300" b="0" u="none" strike="noStrike">
              <a:solidFill>
                <a:srgbClr val="000000"/>
              </a:solidFill>
              <a:effectLst/>
              <a:uFillTx/>
              <a:latin typeface="Arial"/>
            </a:endParaRPr>
          </a:p>
        </p:txBody>
      </p:sp>
      <p:sp>
        <p:nvSpPr>
          <p:cNvPr id="134" name="Shape 2"/>
          <p:cNvSpPr/>
          <p:nvPr/>
        </p:nvSpPr>
        <p:spPr>
          <a:xfrm>
            <a:off x="1047600" y="179316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135" name="Shape 3"/>
          <p:cNvSpPr/>
          <p:nvPr/>
        </p:nvSpPr>
        <p:spPr>
          <a:xfrm>
            <a:off x="1047600" y="2155320"/>
            <a:ext cx="9471600" cy="6243840"/>
          </a:xfrm>
          <a:prstGeom prst="rect">
            <a:avLst/>
          </a:prstGeom>
          <a:noFill/>
          <a:ln w="9525">
            <a:solidFill>
              <a:srgbClr val="D1D5D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36" name="Shape 4"/>
          <p:cNvSpPr/>
          <p:nvPr/>
        </p:nvSpPr>
        <p:spPr>
          <a:xfrm>
            <a:off x="1057320" y="2164680"/>
            <a:ext cx="9452520" cy="6224760"/>
          </a:xfrm>
          <a:prstGeom prst="rect">
            <a:avLst/>
          </a:prstGeom>
          <a:solidFill>
            <a:srgbClr val="000000">
              <a:alpha val="4000"/>
            </a:srgbClr>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pic>
        <p:nvPicPr>
          <p:cNvPr id="137" name="Image 0" descr="preencoded.png"/>
          <p:cNvPicPr/>
          <p:nvPr/>
        </p:nvPicPr>
        <p:blipFill>
          <a:blip r:embed="rId1"/>
          <a:srcRect l="0" t="611" r="0" b="611"/>
          <a:stretch/>
        </p:blipFill>
        <p:spPr>
          <a:xfrm>
            <a:off x="1057320" y="2164680"/>
            <a:ext cx="9452520" cy="6224760"/>
          </a:xfrm>
          <a:prstGeom prst="rect">
            <a:avLst/>
          </a:prstGeom>
          <a:noFill/>
          <a:ln w="0">
            <a:noFill/>
          </a:ln>
        </p:spPr>
      </p:pic>
      <p:sp>
        <p:nvSpPr>
          <p:cNvPr id="138" name="Text 5"/>
          <p:cNvSpPr/>
          <p:nvPr/>
        </p:nvSpPr>
        <p:spPr>
          <a:xfrm>
            <a:off x="1047600" y="8551800"/>
            <a:ext cx="10418760" cy="3441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19000"/>
              </a:lnSpc>
              <a:tabLst>
                <a:tab pos="0" algn="l"/>
              </a:tabLst>
            </a:pPr>
            <a:r>
              <a:rPr lang="en-US" sz="1729" b="0" u="none" strike="noStrike">
                <a:solidFill>
                  <a:srgbClr val="374151"/>
                </a:solidFill>
                <a:effectLst/>
                <a:uFillTx/>
                <a:latin typeface="Arial"/>
                <a:ea typeface="Arial"/>
              </a:rPr>
              <a:t>Abbildung 4: Bandbreite über der Work-Group-Größe.</a:t>
            </a:r>
            <a:endParaRPr lang="de-DE" sz="1729" b="0" u="none" strike="noStrike">
              <a:solidFill>
                <a:srgbClr val="000000"/>
              </a:solidFill>
              <a:effectLst/>
              <a:uFillTx/>
              <a:latin typeface="Arial"/>
            </a:endParaRPr>
          </a:p>
        </p:txBody>
      </p:sp>
      <p:sp>
        <p:nvSpPr>
          <p:cNvPr id="139" name="Text 6"/>
          <p:cNvSpPr/>
          <p:nvPr/>
        </p:nvSpPr>
        <p:spPr>
          <a:xfrm>
            <a:off x="11214000" y="4321800"/>
            <a:ext cx="6606360" cy="4777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21000"/>
              </a:lnSpc>
              <a:tabLst>
                <a:tab pos="0" algn="l"/>
              </a:tabLst>
            </a:pPr>
            <a:r>
              <a:rPr lang="en-US" sz="2470" b="0" u="none" strike="noStrike">
                <a:solidFill>
                  <a:srgbClr val="000000"/>
                </a:solidFill>
                <a:effectLst/>
                <a:uFillTx/>
                <a:latin typeface="Arial"/>
                <a:ea typeface="Arial"/>
              </a:rPr>
              <a:t>Work-Group 8: </a:t>
            </a:r>
            <a:r>
              <a:rPr lang="en-US" sz="2470" b="1" u="none" strike="noStrike">
                <a:solidFill>
                  <a:srgbClr val="2A4B9A"/>
                </a:solidFill>
                <a:effectLst/>
                <a:uFillTx/>
                <a:latin typeface="Arial"/>
                <a:ea typeface="Arial"/>
              </a:rPr>
              <a:t>45,0 GB/s</a:t>
            </a:r>
            <a:endParaRPr lang="de-DE" sz="2470" b="0" u="none" strike="noStrike">
              <a:solidFill>
                <a:srgbClr val="000000"/>
              </a:solidFill>
              <a:effectLst/>
              <a:uFillTx/>
              <a:latin typeface="Arial"/>
            </a:endParaRPr>
          </a:p>
        </p:txBody>
      </p:sp>
      <p:sp>
        <p:nvSpPr>
          <p:cNvPr id="140" name="Text 7"/>
          <p:cNvSpPr/>
          <p:nvPr/>
        </p:nvSpPr>
        <p:spPr>
          <a:xfrm>
            <a:off x="11214000" y="4914360"/>
            <a:ext cx="6606360" cy="4777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21000"/>
              </a:lnSpc>
              <a:tabLst>
                <a:tab pos="0" algn="l"/>
              </a:tabLst>
            </a:pPr>
            <a:r>
              <a:rPr lang="en-US" sz="2470" b="0" u="none" strike="noStrike">
                <a:solidFill>
                  <a:srgbClr val="000000"/>
                </a:solidFill>
                <a:effectLst/>
                <a:uFillTx/>
                <a:latin typeface="Arial"/>
                <a:ea typeface="Arial"/>
              </a:rPr>
              <a:t>Work-Group 64: </a:t>
            </a:r>
            <a:r>
              <a:rPr lang="en-US" sz="2470" b="1" u="none" strike="noStrike">
                <a:solidFill>
                  <a:srgbClr val="2A4B9A"/>
                </a:solidFill>
                <a:effectLst/>
                <a:uFillTx/>
                <a:latin typeface="Arial"/>
                <a:ea typeface="Arial"/>
              </a:rPr>
              <a:t>79,4 GB/s</a:t>
            </a:r>
            <a:endParaRPr lang="de-DE" sz="2470" b="0" u="none" strike="noStrike">
              <a:solidFill>
                <a:srgbClr val="000000"/>
              </a:solidFill>
              <a:effectLst/>
              <a:uFillTx/>
              <a:latin typeface="Arial"/>
            </a:endParaRPr>
          </a:p>
        </p:txBody>
      </p:sp>
      <p:sp>
        <p:nvSpPr>
          <p:cNvPr id="141" name="Text 8"/>
          <p:cNvSpPr/>
          <p:nvPr/>
        </p:nvSpPr>
        <p:spPr>
          <a:xfrm>
            <a:off x="11214000" y="5506560"/>
            <a:ext cx="6606360" cy="477720"/>
          </a:xfrm>
          <a:prstGeom prst="rect">
            <a:avLst/>
          </a:prstGeom>
          <a:noFill/>
          <a:ln w="0">
            <a:noFill/>
          </a:ln>
        </p:spPr>
        <p:style>
          <a:lnRef idx="0"/>
          <a:fillRef idx="0"/>
          <a:effectRef idx="0"/>
          <a:fontRef idx="minor"/>
        </p:style>
        <p:txBody>
          <a:bodyPr lIns="25560" tIns="25560" rIns="25560" bIns="25560" anchor="t">
            <a:normAutofit lnSpcReduction="9999"/>
          </a:bodyPr>
          <a:p>
            <a:pPr marL="219960" indent="-219960" defTabSz="914400">
              <a:lnSpc>
                <a:spcPct val="121000"/>
              </a:lnSpc>
              <a:buClr>
                <a:srgbClr val="000000"/>
              </a:buClr>
              <a:buFont typeface="Symbol" charset="2"/>
              <a:buChar char=""/>
              <a:tabLst>
                <a:tab pos="219960" algn="l"/>
              </a:tabLst>
            </a:pPr>
            <a:r>
              <a:rPr lang="en-US" sz="2470" b="0" u="none" strike="noStrike">
                <a:solidFill>
                  <a:srgbClr val="000000"/>
                </a:solidFill>
                <a:effectLst/>
                <a:uFillTx/>
                <a:latin typeface="Arial"/>
                <a:ea typeface="Arial"/>
              </a:rPr>
              <a:t>Darüber Plateau bis 80,2 GB/s</a:t>
            </a:r>
            <a:endParaRPr lang="de-DE" sz="2470" b="0" u="none" strike="noStrike">
              <a:solidFill>
                <a:srgbClr val="000000"/>
              </a:solidFill>
              <a:effectLst/>
              <a:uFillTx/>
              <a:latin typeface="Arial"/>
            </a:endParaRPr>
          </a:p>
        </p:txBody>
      </p:sp>
      <p:sp>
        <p:nvSpPr>
          <p:cNvPr id="142" name="Text 9"/>
          <p:cNvSpPr/>
          <p:nvPr/>
        </p:nvSpPr>
        <p:spPr>
          <a:xfrm>
            <a:off x="11214000" y="6099120"/>
            <a:ext cx="6606360" cy="477720"/>
          </a:xfrm>
          <a:prstGeom prst="rect">
            <a:avLst/>
          </a:prstGeom>
          <a:noFill/>
          <a:ln w="0">
            <a:noFill/>
          </a:ln>
        </p:spPr>
        <p:style>
          <a:lnRef idx="0"/>
          <a:fillRef idx="0"/>
          <a:effectRef idx="0"/>
          <a:fontRef idx="minor"/>
        </p:style>
        <p:txBody>
          <a:bodyPr lIns="25560" tIns="25560" rIns="25560" bIns="25560" anchor="t">
            <a:normAutofit lnSpcReduction="9999"/>
          </a:bodyPr>
          <a:p>
            <a:pPr marL="219960" indent="-219960" defTabSz="914400">
              <a:lnSpc>
                <a:spcPct val="121000"/>
              </a:lnSpc>
              <a:buClr>
                <a:srgbClr val="000000"/>
              </a:buClr>
              <a:buFont typeface="Symbol" charset="2"/>
              <a:buChar char=""/>
              <a:tabLst>
                <a:tab pos="219960" algn="l"/>
              </a:tabLst>
            </a:pPr>
            <a:r>
              <a:rPr lang="en-US" sz="2470" b="0" u="none" strike="noStrike">
                <a:solidFill>
                  <a:srgbClr val="000000"/>
                </a:solidFill>
                <a:effectLst/>
                <a:uFillTx/>
                <a:latin typeface="Arial"/>
                <a:ea typeface="Arial"/>
              </a:rPr>
              <a:t>Knick liegt bei der Warp-Breite 64</a:t>
            </a:r>
            <a:endParaRPr lang="de-DE" sz="2470" b="0" u="none" strike="noStrike">
              <a:solidFill>
                <a:srgbClr val="000000"/>
              </a:solidFill>
              <a:effectLst/>
              <a:uFillTx/>
              <a:latin typeface="Arial"/>
            </a:endParaRPr>
          </a:p>
        </p:txBody>
      </p:sp>
      <p:sp>
        <p:nvSpPr>
          <p:cNvPr id="143" name="Text 10"/>
          <p:cNvSpPr/>
          <p:nvPr/>
        </p:nvSpPr>
        <p:spPr>
          <a:xfrm>
            <a:off x="1047600" y="9086760"/>
            <a:ext cx="4946040" cy="323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500" b="0" u="none" strike="noStrike">
                <a:solidFill>
                  <a:srgbClr val="9CA3AF"/>
                </a:solidFill>
                <a:effectLst/>
                <a:uFillTx/>
                <a:latin typeface="Arial"/>
                <a:ea typeface="Arial"/>
              </a:rPr>
              <a:t>Ergebnisse Übung 2 Het Comp · Universität Trier</a:t>
            </a:r>
            <a:endParaRPr lang="de-DE" sz="1500" b="0" u="none" strike="noStrike">
              <a:solidFill>
                <a:srgbClr val="000000"/>
              </a:solidFill>
              <a:effectLst/>
              <a:uFillTx/>
              <a:latin typeface="Arial"/>
            </a:endParaRPr>
          </a:p>
        </p:txBody>
      </p:sp>
      <p:sp>
        <p:nvSpPr>
          <p:cNvPr id="144" name="Text 11"/>
          <p:cNvSpPr/>
          <p:nvPr/>
        </p:nvSpPr>
        <p:spPr>
          <a:xfrm>
            <a:off x="17118360" y="9086760"/>
            <a:ext cx="198000" cy="323640"/>
          </a:xfrm>
          <a:prstGeom prst="rect">
            <a:avLst/>
          </a:prstGeom>
          <a:noFill/>
          <a:ln w="0">
            <a:noFill/>
          </a:ln>
        </p:spPr>
        <p:style>
          <a:lnRef idx="0"/>
          <a:fillRef idx="0"/>
          <a:effectRef idx="0"/>
          <a:fontRef idx="minor"/>
        </p:style>
        <p:txBody>
          <a:bodyPr lIns="25560" tIns="25560" rIns="25560" bIns="25560" anchor="t">
            <a:normAutofit fontScale="70000" lnSpcReduction="19999"/>
          </a:bodyPr>
          <a:p>
            <a:pPr defTabSz="914400">
              <a:lnSpc>
                <a:spcPct val="100000"/>
              </a:lnSpc>
              <a:tabLst>
                <a:tab pos="0" algn="l"/>
              </a:tabLst>
            </a:pPr>
            <a:r>
              <a:rPr lang="en-US" sz="1500" b="0" u="none" strike="noStrike">
                <a:solidFill>
                  <a:srgbClr val="9CA3AF"/>
                </a:solidFill>
                <a:effectLst/>
                <a:uFillTx/>
                <a:latin typeface="Arial"/>
                <a:ea typeface="Arial"/>
              </a:rPr>
              <a:t>11</a:t>
            </a:r>
            <a:endParaRPr lang="de-DE"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5" name="Text 0"/>
          <p:cNvSpPr/>
          <p:nvPr/>
        </p:nvSpPr>
        <p:spPr>
          <a:xfrm>
            <a:off x="1047600" y="762120"/>
            <a:ext cx="17811360" cy="5497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7000"/>
              </a:lnSpc>
              <a:tabLst>
                <a:tab pos="0" algn="l"/>
              </a:tabLst>
            </a:pPr>
            <a:r>
              <a:rPr lang="en-US" sz="3600" b="1" u="none" spc="-37" strike="noStrike">
                <a:solidFill>
                  <a:srgbClr val="000000"/>
                </a:solidFill>
                <a:effectLst/>
                <a:uFillTx/>
                <a:latin typeface="Arial"/>
                <a:ea typeface="Arial"/>
              </a:rPr>
              <a:t>Zwei Regeln folgen aus den Ergebnissen</a:t>
            </a:r>
            <a:endParaRPr lang="de-DE" sz="3600" b="0" u="none" strike="noStrike">
              <a:solidFill>
                <a:srgbClr val="000000"/>
              </a:solidFill>
              <a:effectLst/>
              <a:uFillTx/>
              <a:latin typeface="Arial"/>
            </a:endParaRPr>
          </a:p>
        </p:txBody>
      </p:sp>
      <p:sp>
        <p:nvSpPr>
          <p:cNvPr id="146" name="Shape 1"/>
          <p:cNvSpPr/>
          <p:nvPr/>
        </p:nvSpPr>
        <p:spPr>
          <a:xfrm>
            <a:off x="1047600" y="142632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147" name="Text 2"/>
          <p:cNvSpPr/>
          <p:nvPr/>
        </p:nvSpPr>
        <p:spPr>
          <a:xfrm>
            <a:off x="1257480" y="1940760"/>
            <a:ext cx="8137440" cy="4186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1" u="none" strike="noStrike">
                <a:solidFill>
                  <a:srgbClr val="000000"/>
                </a:solidFill>
                <a:effectLst/>
                <a:uFillTx/>
                <a:latin typeface="Arial"/>
                <a:ea typeface="Arial"/>
              </a:rPr>
              <a:t>Messung</a:t>
            </a:r>
            <a:endParaRPr lang="de-DE" sz="1800" b="0" u="none" strike="noStrike">
              <a:solidFill>
                <a:srgbClr val="000000"/>
              </a:solidFill>
              <a:effectLst/>
              <a:uFillTx/>
              <a:latin typeface="Arial"/>
            </a:endParaRPr>
          </a:p>
        </p:txBody>
      </p:sp>
      <p:sp>
        <p:nvSpPr>
          <p:cNvPr id="148" name="Text 3"/>
          <p:cNvSpPr/>
          <p:nvPr/>
        </p:nvSpPr>
        <p:spPr>
          <a:xfrm>
            <a:off x="9435960" y="1940760"/>
            <a:ext cx="4006080" cy="4186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950" b="1" u="none" strike="noStrike">
                <a:solidFill>
                  <a:srgbClr val="2A4B9A"/>
                </a:solidFill>
                <a:effectLst/>
                <a:uFillTx/>
                <a:latin typeface="Arial"/>
                <a:ea typeface="Arial"/>
              </a:rPr>
              <a:t>GPU</a:t>
            </a:r>
            <a:endParaRPr lang="de-DE" sz="1950" b="0" u="none" strike="noStrike">
              <a:solidFill>
                <a:srgbClr val="000000"/>
              </a:solidFill>
              <a:effectLst/>
              <a:uFillTx/>
              <a:latin typeface="Arial"/>
            </a:endParaRPr>
          </a:p>
        </p:txBody>
      </p:sp>
      <p:sp>
        <p:nvSpPr>
          <p:cNvPr id="149" name="Text 4"/>
          <p:cNvSpPr/>
          <p:nvPr/>
        </p:nvSpPr>
        <p:spPr>
          <a:xfrm>
            <a:off x="13753800" y="1940760"/>
            <a:ext cx="3276720" cy="4186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950" b="1" u="none" strike="noStrike">
                <a:solidFill>
                  <a:srgbClr val="6B7280"/>
                </a:solidFill>
                <a:effectLst/>
                <a:uFillTx/>
                <a:latin typeface="Arial"/>
                <a:ea typeface="Arial"/>
              </a:rPr>
              <a:t>CPU</a:t>
            </a:r>
            <a:endParaRPr lang="de-DE" sz="1950" b="0" u="none" strike="noStrike">
              <a:solidFill>
                <a:srgbClr val="000000"/>
              </a:solidFill>
              <a:effectLst/>
              <a:uFillTx/>
              <a:latin typeface="Arial"/>
            </a:endParaRPr>
          </a:p>
        </p:txBody>
      </p:sp>
      <p:sp>
        <p:nvSpPr>
          <p:cNvPr id="150" name="Shape 5"/>
          <p:cNvSpPr/>
          <p:nvPr/>
        </p:nvSpPr>
        <p:spPr>
          <a:xfrm>
            <a:off x="1047600" y="247428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151" name="Text 6"/>
          <p:cNvSpPr/>
          <p:nvPr/>
        </p:nvSpPr>
        <p:spPr>
          <a:xfrm>
            <a:off x="1257480" y="2664720"/>
            <a:ext cx="8137440" cy="50436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2320" b="0" u="none" strike="noStrike">
                <a:solidFill>
                  <a:srgbClr val="000000"/>
                </a:solidFill>
                <a:effectLst/>
                <a:uFillTx/>
                <a:latin typeface="Arial"/>
                <a:ea typeface="Arial"/>
              </a:rPr>
              <a:t>Spitzen-Durchsatz</a:t>
            </a:r>
            <a:endParaRPr lang="de-DE" sz="2320" b="0" u="none" strike="noStrike">
              <a:solidFill>
                <a:srgbClr val="000000"/>
              </a:solidFill>
              <a:effectLst/>
              <a:uFillTx/>
              <a:latin typeface="Arial"/>
            </a:endParaRPr>
          </a:p>
        </p:txBody>
      </p:sp>
      <p:sp>
        <p:nvSpPr>
          <p:cNvPr id="152" name="Text 7"/>
          <p:cNvSpPr/>
          <p:nvPr/>
        </p:nvSpPr>
        <p:spPr>
          <a:xfrm>
            <a:off x="9435960" y="2664720"/>
            <a:ext cx="4006080" cy="50436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2320" b="0" u="none" strike="noStrike">
                <a:solidFill>
                  <a:srgbClr val="2A4B9A"/>
                </a:solidFill>
                <a:effectLst/>
                <a:uFillTx/>
                <a:latin typeface="Arial"/>
                <a:ea typeface="Arial"/>
              </a:rPr>
              <a:t>3085,3 GFLOP/s</a:t>
            </a:r>
            <a:endParaRPr lang="de-DE" sz="2320" b="0" u="none" strike="noStrike">
              <a:solidFill>
                <a:srgbClr val="000000"/>
              </a:solidFill>
              <a:effectLst/>
              <a:uFillTx/>
              <a:latin typeface="Arial"/>
            </a:endParaRPr>
          </a:p>
        </p:txBody>
      </p:sp>
      <p:sp>
        <p:nvSpPr>
          <p:cNvPr id="153" name="Text 8"/>
          <p:cNvSpPr/>
          <p:nvPr/>
        </p:nvSpPr>
        <p:spPr>
          <a:xfrm>
            <a:off x="13753800" y="2664720"/>
            <a:ext cx="3276720" cy="50436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2320" b="0" u="none" strike="noStrike">
                <a:solidFill>
                  <a:srgbClr val="6B7280"/>
                </a:solidFill>
                <a:effectLst/>
                <a:uFillTx/>
                <a:latin typeface="Arial"/>
                <a:ea typeface="Arial"/>
              </a:rPr>
              <a:t>14,5 GFLOP/s</a:t>
            </a:r>
            <a:endParaRPr lang="de-DE" sz="2320" b="0" u="none" strike="noStrike">
              <a:solidFill>
                <a:srgbClr val="000000"/>
              </a:solidFill>
              <a:effectLst/>
              <a:uFillTx/>
              <a:latin typeface="Arial"/>
            </a:endParaRPr>
          </a:p>
        </p:txBody>
      </p:sp>
      <p:sp>
        <p:nvSpPr>
          <p:cNvPr id="154" name="Shape 9"/>
          <p:cNvSpPr/>
          <p:nvPr/>
        </p:nvSpPr>
        <p:spPr>
          <a:xfrm>
            <a:off x="1047600" y="332172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155" name="Text 10"/>
          <p:cNvSpPr/>
          <p:nvPr/>
        </p:nvSpPr>
        <p:spPr>
          <a:xfrm>
            <a:off x="1257480" y="3512520"/>
            <a:ext cx="8137440" cy="50436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2320" b="0" u="none" strike="noStrike">
                <a:solidFill>
                  <a:srgbClr val="000000"/>
                </a:solidFill>
                <a:effectLst/>
                <a:uFillTx/>
                <a:latin typeface="Arial"/>
                <a:ea typeface="Arial"/>
              </a:rPr>
              <a:t>Divergenz-Einbruch Grad 1 zu 64</a:t>
            </a:r>
            <a:endParaRPr lang="de-DE" sz="2320" b="0" u="none" strike="noStrike">
              <a:solidFill>
                <a:srgbClr val="000000"/>
              </a:solidFill>
              <a:effectLst/>
              <a:uFillTx/>
              <a:latin typeface="Arial"/>
            </a:endParaRPr>
          </a:p>
        </p:txBody>
      </p:sp>
      <p:sp>
        <p:nvSpPr>
          <p:cNvPr id="156" name="Text 11"/>
          <p:cNvSpPr/>
          <p:nvPr/>
        </p:nvSpPr>
        <p:spPr>
          <a:xfrm>
            <a:off x="9435960" y="3512520"/>
            <a:ext cx="4006080" cy="50436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2320" b="0" u="none" strike="noStrike">
                <a:solidFill>
                  <a:srgbClr val="2A4B9A"/>
                </a:solidFill>
                <a:effectLst/>
                <a:uFillTx/>
                <a:latin typeface="Arial"/>
                <a:ea typeface="Arial"/>
              </a:rPr>
              <a:t>Faktor 56,1</a:t>
            </a:r>
            <a:endParaRPr lang="de-DE" sz="2320" b="0" u="none" strike="noStrike">
              <a:solidFill>
                <a:srgbClr val="000000"/>
              </a:solidFill>
              <a:effectLst/>
              <a:uFillTx/>
              <a:latin typeface="Arial"/>
            </a:endParaRPr>
          </a:p>
        </p:txBody>
      </p:sp>
      <p:sp>
        <p:nvSpPr>
          <p:cNvPr id="157" name="Text 12"/>
          <p:cNvSpPr/>
          <p:nvPr/>
        </p:nvSpPr>
        <p:spPr>
          <a:xfrm>
            <a:off x="13753800" y="3512520"/>
            <a:ext cx="3276720" cy="50436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2320" b="0" u="none" strike="noStrike">
                <a:solidFill>
                  <a:srgbClr val="6B7280"/>
                </a:solidFill>
                <a:effectLst/>
                <a:uFillTx/>
                <a:latin typeface="Arial"/>
                <a:ea typeface="Arial"/>
              </a:rPr>
              <a:t>Faktor 2,6</a:t>
            </a:r>
            <a:endParaRPr lang="de-DE" sz="2320" b="0" u="none" strike="noStrike">
              <a:solidFill>
                <a:srgbClr val="000000"/>
              </a:solidFill>
              <a:effectLst/>
              <a:uFillTx/>
              <a:latin typeface="Arial"/>
            </a:endParaRPr>
          </a:p>
        </p:txBody>
      </p:sp>
      <p:sp>
        <p:nvSpPr>
          <p:cNvPr id="158" name="Shape 13"/>
          <p:cNvSpPr/>
          <p:nvPr/>
        </p:nvSpPr>
        <p:spPr>
          <a:xfrm>
            <a:off x="1047600" y="416952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159" name="Text 14"/>
          <p:cNvSpPr/>
          <p:nvPr/>
        </p:nvSpPr>
        <p:spPr>
          <a:xfrm>
            <a:off x="1257480" y="4359960"/>
            <a:ext cx="8137440" cy="50436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2320" b="0" u="none" strike="noStrike">
                <a:solidFill>
                  <a:srgbClr val="000000"/>
                </a:solidFill>
                <a:effectLst/>
                <a:uFillTx/>
                <a:latin typeface="Arial"/>
                <a:ea typeface="Arial"/>
              </a:rPr>
              <a:t>Bandbreite coalesced</a:t>
            </a:r>
            <a:endParaRPr lang="de-DE" sz="2320" b="0" u="none" strike="noStrike">
              <a:solidFill>
                <a:srgbClr val="000000"/>
              </a:solidFill>
              <a:effectLst/>
              <a:uFillTx/>
              <a:latin typeface="Arial"/>
            </a:endParaRPr>
          </a:p>
        </p:txBody>
      </p:sp>
      <p:sp>
        <p:nvSpPr>
          <p:cNvPr id="160" name="Text 15"/>
          <p:cNvSpPr/>
          <p:nvPr/>
        </p:nvSpPr>
        <p:spPr>
          <a:xfrm>
            <a:off x="9435960" y="4359960"/>
            <a:ext cx="4006080" cy="50436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2320" b="0" u="none" strike="noStrike">
                <a:solidFill>
                  <a:srgbClr val="2A4B9A"/>
                </a:solidFill>
                <a:effectLst/>
                <a:uFillTx/>
                <a:latin typeface="Arial"/>
                <a:ea typeface="Arial"/>
              </a:rPr>
              <a:t>78,7 GB/s</a:t>
            </a:r>
            <a:endParaRPr lang="de-DE" sz="2320" b="0" u="none" strike="noStrike">
              <a:solidFill>
                <a:srgbClr val="000000"/>
              </a:solidFill>
              <a:effectLst/>
              <a:uFillTx/>
              <a:latin typeface="Arial"/>
            </a:endParaRPr>
          </a:p>
        </p:txBody>
      </p:sp>
      <p:sp>
        <p:nvSpPr>
          <p:cNvPr id="161" name="Text 16"/>
          <p:cNvSpPr/>
          <p:nvPr/>
        </p:nvSpPr>
        <p:spPr>
          <a:xfrm>
            <a:off x="13753800" y="4359960"/>
            <a:ext cx="3276720" cy="50436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2320" b="0" u="none" strike="noStrike">
                <a:solidFill>
                  <a:srgbClr val="6B7280"/>
                </a:solidFill>
                <a:effectLst/>
                <a:uFillTx/>
                <a:latin typeface="Arial"/>
                <a:ea typeface="Arial"/>
              </a:rPr>
              <a:t>12,9 GB/s</a:t>
            </a:r>
            <a:endParaRPr lang="de-DE" sz="2320" b="0" u="none" strike="noStrike">
              <a:solidFill>
                <a:srgbClr val="000000"/>
              </a:solidFill>
              <a:effectLst/>
              <a:uFillTx/>
              <a:latin typeface="Arial"/>
            </a:endParaRPr>
          </a:p>
        </p:txBody>
      </p:sp>
      <p:sp>
        <p:nvSpPr>
          <p:cNvPr id="162" name="Shape 17"/>
          <p:cNvSpPr/>
          <p:nvPr/>
        </p:nvSpPr>
        <p:spPr>
          <a:xfrm>
            <a:off x="1047600" y="584604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163" name="Shape 18"/>
          <p:cNvSpPr/>
          <p:nvPr/>
        </p:nvSpPr>
        <p:spPr>
          <a:xfrm>
            <a:off x="1047600" y="5017320"/>
            <a:ext cx="16192080" cy="18720"/>
          </a:xfrm>
          <a:prstGeom prst="rect">
            <a:avLst/>
          </a:prstGeom>
          <a:solidFill>
            <a:srgbClr val="D1D5DB"/>
          </a:solidFill>
          <a:ln w="0">
            <a:noFill/>
          </a:ln>
        </p:spPr>
        <p:style>
          <a:lnRef idx="0"/>
          <a:fillRef idx="0"/>
          <a:effectRef idx="0"/>
          <a:fontRef idx="minor"/>
        </p:style>
        <p:txBody>
          <a:bodyPr lIns="90000" tIns="-25920" rIns="90000" bIns="-25920" anchor="t">
            <a:noAutofit/>
          </a:bodyPr>
          <a:p>
            <a:endParaRPr lang="de-DE" sz="1800" b="0" u="none" strike="noStrike">
              <a:solidFill>
                <a:srgbClr val="000000"/>
              </a:solidFill>
              <a:effectLst/>
              <a:uFillTx/>
              <a:latin typeface="Arial"/>
            </a:endParaRPr>
          </a:p>
        </p:txBody>
      </p:sp>
      <p:sp>
        <p:nvSpPr>
          <p:cNvPr id="164" name="Text 19"/>
          <p:cNvSpPr/>
          <p:nvPr/>
        </p:nvSpPr>
        <p:spPr>
          <a:xfrm>
            <a:off x="1257480" y="5207760"/>
            <a:ext cx="8137440" cy="50436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2320" b="0" u="none" strike="noStrike">
                <a:solidFill>
                  <a:srgbClr val="000000"/>
                </a:solidFill>
                <a:effectLst/>
                <a:uFillTx/>
                <a:latin typeface="Arial"/>
                <a:ea typeface="Arial"/>
              </a:rPr>
              <a:t>Bandbreite gather</a:t>
            </a:r>
            <a:endParaRPr lang="de-DE" sz="2320" b="0" u="none" strike="noStrike">
              <a:solidFill>
                <a:srgbClr val="000000"/>
              </a:solidFill>
              <a:effectLst/>
              <a:uFillTx/>
              <a:latin typeface="Arial"/>
            </a:endParaRPr>
          </a:p>
        </p:txBody>
      </p:sp>
      <p:sp>
        <p:nvSpPr>
          <p:cNvPr id="165" name="Text 20"/>
          <p:cNvSpPr/>
          <p:nvPr/>
        </p:nvSpPr>
        <p:spPr>
          <a:xfrm>
            <a:off x="9435960" y="5207760"/>
            <a:ext cx="4006080" cy="50436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2320" b="0" u="none" strike="noStrike">
                <a:solidFill>
                  <a:srgbClr val="2A4B9A"/>
                </a:solidFill>
                <a:effectLst/>
                <a:uFillTx/>
                <a:latin typeface="Arial"/>
                <a:ea typeface="Arial"/>
              </a:rPr>
              <a:t>6,9 GB/s</a:t>
            </a:r>
            <a:endParaRPr lang="de-DE" sz="2320" b="0" u="none" strike="noStrike">
              <a:solidFill>
                <a:srgbClr val="000000"/>
              </a:solidFill>
              <a:effectLst/>
              <a:uFillTx/>
              <a:latin typeface="Arial"/>
            </a:endParaRPr>
          </a:p>
        </p:txBody>
      </p:sp>
      <p:sp>
        <p:nvSpPr>
          <p:cNvPr id="166" name="Text 21"/>
          <p:cNvSpPr/>
          <p:nvPr/>
        </p:nvSpPr>
        <p:spPr>
          <a:xfrm>
            <a:off x="13753800" y="5207760"/>
            <a:ext cx="3276720" cy="50436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2320" b="0" u="none" strike="noStrike">
                <a:solidFill>
                  <a:srgbClr val="6B7280"/>
                </a:solidFill>
                <a:effectLst/>
                <a:uFillTx/>
                <a:latin typeface="Arial"/>
                <a:ea typeface="Arial"/>
              </a:rPr>
              <a:t>1,5 GB/s</a:t>
            </a:r>
            <a:endParaRPr lang="de-DE" sz="2320" b="0" u="none" strike="noStrike">
              <a:solidFill>
                <a:srgbClr val="000000"/>
              </a:solidFill>
              <a:effectLst/>
              <a:uFillTx/>
              <a:latin typeface="Arial"/>
            </a:endParaRPr>
          </a:p>
        </p:txBody>
      </p:sp>
      <p:sp>
        <p:nvSpPr>
          <p:cNvPr id="167" name="Text 22"/>
          <p:cNvSpPr/>
          <p:nvPr/>
        </p:nvSpPr>
        <p:spPr>
          <a:xfrm>
            <a:off x="1047600" y="6626880"/>
            <a:ext cx="197640" cy="3614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7000"/>
              </a:lnSpc>
              <a:tabLst>
                <a:tab pos="0" algn="l"/>
              </a:tabLst>
            </a:pPr>
            <a:r>
              <a:rPr lang="en-US" sz="2550" b="1" u="none" strike="noStrike">
                <a:solidFill>
                  <a:srgbClr val="2A4B9A"/>
                </a:solidFill>
                <a:effectLst/>
                <a:uFillTx/>
                <a:latin typeface="Arial"/>
                <a:ea typeface="Arial"/>
              </a:rPr>
              <a:t>1</a:t>
            </a:r>
            <a:endParaRPr lang="de-DE" sz="2550" b="0" u="none" strike="noStrike">
              <a:solidFill>
                <a:srgbClr val="000000"/>
              </a:solidFill>
              <a:effectLst/>
              <a:uFillTx/>
              <a:latin typeface="Arial"/>
            </a:endParaRPr>
          </a:p>
        </p:txBody>
      </p:sp>
      <p:sp>
        <p:nvSpPr>
          <p:cNvPr id="168" name="Text 23"/>
          <p:cNvSpPr/>
          <p:nvPr/>
        </p:nvSpPr>
        <p:spPr>
          <a:xfrm>
            <a:off x="1417320" y="6598440"/>
            <a:ext cx="8309160" cy="4338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12000"/>
              </a:lnSpc>
              <a:tabLst>
                <a:tab pos="0" algn="l"/>
              </a:tabLst>
            </a:pPr>
            <a:r>
              <a:rPr lang="en-US" sz="2400" b="0" u="none" strike="noStrike">
                <a:solidFill>
                  <a:srgbClr val="000000"/>
                </a:solidFill>
                <a:effectLst/>
                <a:uFillTx/>
                <a:latin typeface="Arial"/>
                <a:ea typeface="Arial"/>
              </a:rPr>
              <a:t>Verzweigungen innerhalb eines Warps vermeiden</a:t>
            </a:r>
            <a:endParaRPr lang="de-DE" sz="2400" b="0" u="none" strike="noStrike">
              <a:solidFill>
                <a:srgbClr val="000000"/>
              </a:solidFill>
              <a:effectLst/>
              <a:uFillTx/>
              <a:latin typeface="Arial"/>
            </a:endParaRPr>
          </a:p>
        </p:txBody>
      </p:sp>
      <p:sp>
        <p:nvSpPr>
          <p:cNvPr id="169" name="Text 24"/>
          <p:cNvSpPr/>
          <p:nvPr/>
        </p:nvSpPr>
        <p:spPr>
          <a:xfrm>
            <a:off x="1047600" y="7232760"/>
            <a:ext cx="261000" cy="3614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7000"/>
              </a:lnSpc>
              <a:tabLst>
                <a:tab pos="0" algn="l"/>
              </a:tabLst>
            </a:pPr>
            <a:r>
              <a:rPr lang="en-US" sz="2550" b="1" u="none" strike="noStrike">
                <a:solidFill>
                  <a:srgbClr val="2A4B9A"/>
                </a:solidFill>
                <a:effectLst/>
                <a:uFillTx/>
                <a:latin typeface="Arial"/>
                <a:ea typeface="Arial"/>
              </a:rPr>
              <a:t>2</a:t>
            </a:r>
            <a:endParaRPr lang="de-DE" sz="2550" b="0" u="none" strike="noStrike">
              <a:solidFill>
                <a:srgbClr val="000000"/>
              </a:solidFill>
              <a:effectLst/>
              <a:uFillTx/>
              <a:latin typeface="Arial"/>
            </a:endParaRPr>
          </a:p>
        </p:txBody>
      </p:sp>
      <p:sp>
        <p:nvSpPr>
          <p:cNvPr id="170" name="Text 25"/>
          <p:cNvSpPr/>
          <p:nvPr/>
        </p:nvSpPr>
        <p:spPr>
          <a:xfrm>
            <a:off x="1480320" y="7204320"/>
            <a:ext cx="13978800" cy="4338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12000"/>
              </a:lnSpc>
              <a:tabLst>
                <a:tab pos="0" algn="l"/>
              </a:tabLst>
            </a:pPr>
            <a:r>
              <a:rPr lang="en-US" sz="2400" b="0" u="none" strike="noStrike">
                <a:solidFill>
                  <a:srgbClr val="000000"/>
                </a:solidFill>
                <a:effectLst/>
                <a:uFillTx/>
                <a:latin typeface="Arial"/>
                <a:ea typeface="Arial"/>
              </a:rPr>
              <a:t>Datenstrukturen so anordnen, dass benachbarte Threads benachbarte Daten lesen</a:t>
            </a:r>
            <a:endParaRPr lang="de-DE" sz="2400" b="0" u="none" strike="noStrike">
              <a:solidFill>
                <a:srgbClr val="000000"/>
              </a:solidFill>
              <a:effectLst/>
              <a:uFillTx/>
              <a:latin typeface="Arial"/>
            </a:endParaRPr>
          </a:p>
        </p:txBody>
      </p:sp>
      <p:sp>
        <p:nvSpPr>
          <p:cNvPr id="171" name="Text 26"/>
          <p:cNvSpPr/>
          <p:nvPr/>
        </p:nvSpPr>
        <p:spPr>
          <a:xfrm>
            <a:off x="1047600" y="9086760"/>
            <a:ext cx="4946040" cy="323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500" b="0" u="none" strike="noStrike">
                <a:solidFill>
                  <a:srgbClr val="9CA3AF"/>
                </a:solidFill>
                <a:effectLst/>
                <a:uFillTx/>
                <a:latin typeface="Arial"/>
                <a:ea typeface="Arial"/>
              </a:rPr>
              <a:t>Ergebnisse Übung 2 Het Comp · Universität Trier</a:t>
            </a:r>
            <a:endParaRPr lang="de-DE" sz="1500" b="0" u="none" strike="noStrike">
              <a:solidFill>
                <a:srgbClr val="000000"/>
              </a:solidFill>
              <a:effectLst/>
              <a:uFillTx/>
              <a:latin typeface="Arial"/>
            </a:endParaRPr>
          </a:p>
        </p:txBody>
      </p:sp>
      <p:sp>
        <p:nvSpPr>
          <p:cNvPr id="172" name="Text 27"/>
          <p:cNvSpPr/>
          <p:nvPr/>
        </p:nvSpPr>
        <p:spPr>
          <a:xfrm>
            <a:off x="17066880" y="9086760"/>
            <a:ext cx="249120" cy="32364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pPr>
            <a:r>
              <a:rPr lang="en-US" sz="1500" b="0" u="none" strike="noStrike">
                <a:solidFill>
                  <a:srgbClr val="9CA3AF"/>
                </a:solidFill>
                <a:effectLst/>
                <a:uFillTx/>
                <a:latin typeface="Arial"/>
                <a:ea typeface="Arial"/>
              </a:rPr>
              <a:t>13</a:t>
            </a:r>
            <a:endParaRPr lang="de-DE"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LibreOffice/26.2.4.2$Linux_X86_64 LibreOffice_project/64a984c51f4702dbd3710b13428c673a2f1292e7</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2026-07-20T12:40:04Z</dcterms:created>
  <dc:creator>PptxGenJS</dc:creator>
  <dc:description/>
  <dc:language>de-DE</dc:language>
  <cp:lastModifiedBy/>
  <dcterms:modified xsi:type="dcterms:W3CDTF">2026-07-20T14:43:20Z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12</vt:i4>
  </property>
  <property fmtid="{D5CDD505-2E9C-101B-9397-08002B2CF9AE}" pid="3" name="PresentationFormat">
    <vt:lpwstr>On-screen Show (16:9)</vt:lpwstr>
  </property>
  <property fmtid="{D5CDD505-2E9C-101B-9397-08002B2CF9AE}" pid="4" name="Slides">
    <vt:i4>12</vt:i4>
  </property>
</Properties>
</file>